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4" d="100"/>
          <a:sy n="74" d="100"/>
        </p:scale>
        <p:origin x="-118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74"/>
            <a:ext cx="8229600" cy="832947"/>
          </a:xfrm>
        </p:spPr>
        <p:txBody>
          <a:bodyPr>
            <a:noAutofit/>
          </a:bodyPr>
          <a:lstStyle/>
          <a:p>
            <a:r>
              <a:rPr sz="2800" dirty="0" err="1"/>
              <a:t>Pré-Processamento</a:t>
            </a:r>
            <a:r>
              <a:rPr sz="2800" dirty="0"/>
              <a:t> de Dados: A Base do </a:t>
            </a:r>
            <a:r>
              <a:rPr sz="2800" dirty="0" err="1"/>
              <a:t>Aprendizado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76908"/>
            <a:ext cx="8229600" cy="4525963"/>
          </a:xfrm>
        </p:spPr>
        <p:txBody>
          <a:bodyPr>
            <a:noAutofit/>
          </a:bodyPr>
          <a:lstStyle/>
          <a:p>
            <a:r>
              <a:rPr sz="1600" dirty="0" err="1"/>
              <a:t>Por</a:t>
            </a:r>
            <a:r>
              <a:rPr sz="1600" dirty="0"/>
              <a:t> que </a:t>
            </a:r>
            <a:r>
              <a:rPr sz="1600" dirty="0" err="1"/>
              <a:t>Pré-processar</a:t>
            </a:r>
            <a:r>
              <a:rPr sz="1600" dirty="0"/>
              <a:t>?</a:t>
            </a:r>
          </a:p>
          <a:p>
            <a:pPr lvl="1"/>
            <a:r>
              <a:rPr sz="1400" dirty="0" err="1"/>
              <a:t>Algoritmos</a:t>
            </a:r>
            <a:r>
              <a:rPr sz="1400" dirty="0"/>
              <a:t> de Machine Learning </a:t>
            </a:r>
            <a:r>
              <a:rPr sz="1400" dirty="0" err="1"/>
              <a:t>entendem</a:t>
            </a:r>
            <a:r>
              <a:rPr sz="1400" dirty="0"/>
              <a:t> </a:t>
            </a:r>
            <a:r>
              <a:rPr sz="1400" dirty="0" err="1"/>
              <a:t>apenas</a:t>
            </a:r>
            <a:r>
              <a:rPr sz="1400" dirty="0"/>
              <a:t> </a:t>
            </a:r>
            <a:r>
              <a:rPr sz="1400" dirty="0" err="1"/>
              <a:t>números</a:t>
            </a:r>
            <a:r>
              <a:rPr sz="1400" dirty="0"/>
              <a:t>.</a:t>
            </a:r>
          </a:p>
          <a:p>
            <a:pPr lvl="1"/>
            <a:r>
              <a:rPr sz="1400" dirty="0"/>
              <a:t>A </a:t>
            </a:r>
            <a:r>
              <a:rPr sz="1400" dirty="0" err="1"/>
              <a:t>qualidade</a:t>
            </a:r>
            <a:r>
              <a:rPr sz="1400" dirty="0"/>
              <a:t> dos dados define o </a:t>
            </a:r>
            <a:r>
              <a:rPr sz="1400" dirty="0" err="1"/>
              <a:t>limite</a:t>
            </a:r>
            <a:r>
              <a:rPr sz="1400" dirty="0"/>
              <a:t> superior do </a:t>
            </a:r>
            <a:r>
              <a:rPr sz="1400" dirty="0" err="1"/>
              <a:t>modelo</a:t>
            </a:r>
            <a:r>
              <a:rPr sz="1400" dirty="0"/>
              <a:t> (Garbage In, Garbage Out).</a:t>
            </a:r>
          </a:p>
          <a:p>
            <a:pPr marL="457200" lvl="1" indent="0">
              <a:buNone/>
            </a:pPr>
            <a:endParaRPr sz="1400" dirty="0"/>
          </a:p>
          <a:p>
            <a:pPr lvl="1"/>
            <a:r>
              <a:rPr sz="1400" dirty="0"/>
              <a:t>Dados </a:t>
            </a:r>
            <a:r>
              <a:rPr sz="1400" dirty="0" err="1"/>
              <a:t>Escalares</a:t>
            </a:r>
            <a:r>
              <a:rPr sz="1400" dirty="0"/>
              <a:t> (</a:t>
            </a:r>
            <a:r>
              <a:rPr sz="1400" dirty="0" err="1"/>
              <a:t>Numéricos</a:t>
            </a:r>
            <a:r>
              <a:rPr sz="1400" dirty="0"/>
              <a:t>):</a:t>
            </a:r>
          </a:p>
          <a:p>
            <a:pPr lvl="2"/>
            <a:r>
              <a:rPr sz="1200" dirty="0" err="1"/>
              <a:t>Representam</a:t>
            </a:r>
            <a:r>
              <a:rPr sz="1200" dirty="0"/>
              <a:t> </a:t>
            </a:r>
            <a:r>
              <a:rPr sz="1200" dirty="0" err="1"/>
              <a:t>quantidades</a:t>
            </a:r>
            <a:r>
              <a:rPr sz="1200" dirty="0"/>
              <a:t> com </a:t>
            </a:r>
            <a:r>
              <a:rPr sz="1200" dirty="0" err="1"/>
              <a:t>significado</a:t>
            </a:r>
            <a:r>
              <a:rPr sz="1200" dirty="0"/>
              <a:t> </a:t>
            </a:r>
            <a:r>
              <a:rPr sz="1200" dirty="0" err="1"/>
              <a:t>matemático</a:t>
            </a:r>
            <a:r>
              <a:rPr sz="1200" dirty="0"/>
              <a:t>.</a:t>
            </a:r>
          </a:p>
          <a:p>
            <a:pPr lvl="2"/>
            <a:r>
              <a:rPr sz="1200" dirty="0"/>
              <a:t>Ex: </a:t>
            </a:r>
            <a:r>
              <a:rPr sz="1200" dirty="0" err="1"/>
              <a:t>Idade</a:t>
            </a:r>
            <a:r>
              <a:rPr sz="1200" dirty="0"/>
              <a:t>, </a:t>
            </a:r>
            <a:r>
              <a:rPr sz="1200" dirty="0" err="1"/>
              <a:t>Preço</a:t>
            </a:r>
            <a:r>
              <a:rPr sz="1200" dirty="0"/>
              <a:t>, </a:t>
            </a:r>
            <a:r>
              <a:rPr sz="1200" dirty="0" err="1"/>
              <a:t>Temperatura</a:t>
            </a:r>
            <a:r>
              <a:rPr sz="1200" dirty="0"/>
              <a:t>.</a:t>
            </a:r>
          </a:p>
          <a:p>
            <a:pPr lvl="2"/>
            <a:r>
              <a:rPr sz="1200" dirty="0" err="1"/>
              <a:t>Subtipos</a:t>
            </a:r>
            <a:r>
              <a:rPr sz="1200" dirty="0" smtClean="0"/>
              <a:t>:</a:t>
            </a:r>
            <a:endParaRPr lang="pt-BR" sz="1200" dirty="0" smtClean="0"/>
          </a:p>
          <a:p>
            <a:pPr lvl="3"/>
            <a:r>
              <a:rPr lang="pt-BR" sz="1100" b="1" dirty="0"/>
              <a:t>Variáveis </a:t>
            </a:r>
            <a:r>
              <a:rPr lang="pt-BR" sz="1100" b="1" dirty="0" smtClean="0"/>
              <a:t>Discretas: </a:t>
            </a:r>
            <a:r>
              <a:rPr lang="pt-BR" sz="1100" dirty="0"/>
              <a:t> Variáveis que podem assumir apenas </a:t>
            </a:r>
            <a:r>
              <a:rPr lang="pt-BR" sz="1100" b="1" dirty="0"/>
              <a:t>valores específicos e contáveis</a:t>
            </a:r>
            <a:r>
              <a:rPr lang="pt-BR" sz="1100" dirty="0"/>
              <a:t>, geralmente números inteiros. </a:t>
            </a:r>
            <a:r>
              <a:rPr lang="pt-BR" sz="1100" dirty="0" smtClean="0"/>
              <a:t>Exemplo: Número de filhos {0;1;2;...}. Não é possível 2,5.</a:t>
            </a:r>
            <a:endParaRPr lang="pt-BR" sz="1100" dirty="0"/>
          </a:p>
          <a:p>
            <a:pPr lvl="3"/>
            <a:endParaRPr lang="pt-BR" sz="1100" dirty="0" smtClean="0"/>
          </a:p>
          <a:p>
            <a:pPr lvl="3"/>
            <a:r>
              <a:rPr lang="pt-BR" sz="1100" b="1" dirty="0"/>
              <a:t>Variáveis </a:t>
            </a:r>
            <a:r>
              <a:rPr lang="pt-BR" sz="1100" b="1" dirty="0" smtClean="0"/>
              <a:t>Contínuas: </a:t>
            </a:r>
            <a:r>
              <a:rPr lang="pt-BR" sz="1100" dirty="0"/>
              <a:t> Variáveis que podem assumir </a:t>
            </a:r>
            <a:r>
              <a:rPr lang="pt-BR" sz="1100" b="1" dirty="0"/>
              <a:t>qualquer valor</a:t>
            </a:r>
            <a:r>
              <a:rPr lang="pt-BR" sz="1100" dirty="0"/>
              <a:t> dentro de um intervalo (ou conjunto de intervalos). Podem ser medidas com precisão teoricamente infinita</a:t>
            </a:r>
            <a:r>
              <a:rPr lang="pt-BR" sz="1100" dirty="0" smtClean="0"/>
              <a:t>. Por exemplo: Altura do paciente {1,65; 1,67; 1,73;...}</a:t>
            </a:r>
            <a:endParaRPr sz="1100" dirty="0"/>
          </a:p>
          <a:p>
            <a:pPr marL="457200" lvl="1" indent="0">
              <a:buNone/>
            </a:pPr>
            <a:endParaRPr sz="1400" dirty="0"/>
          </a:p>
          <a:p>
            <a:pPr lvl="1"/>
            <a:r>
              <a:rPr sz="1400" dirty="0"/>
              <a:t>Dados </a:t>
            </a:r>
            <a:r>
              <a:rPr sz="1400" dirty="0" err="1"/>
              <a:t>Categóricos</a:t>
            </a:r>
            <a:r>
              <a:rPr sz="1400" dirty="0"/>
              <a:t>:</a:t>
            </a:r>
          </a:p>
          <a:p>
            <a:pPr lvl="2"/>
            <a:r>
              <a:rPr sz="1200" dirty="0" err="1"/>
              <a:t>Representam</a:t>
            </a:r>
            <a:r>
              <a:rPr sz="1200" dirty="0"/>
              <a:t> </a:t>
            </a:r>
            <a:r>
              <a:rPr sz="1200" dirty="0" err="1"/>
              <a:t>rótulos</a:t>
            </a:r>
            <a:r>
              <a:rPr sz="1200" dirty="0"/>
              <a:t> </a:t>
            </a:r>
            <a:r>
              <a:rPr sz="1200" dirty="0" err="1"/>
              <a:t>ou</a:t>
            </a:r>
            <a:r>
              <a:rPr sz="1200" dirty="0"/>
              <a:t> </a:t>
            </a:r>
            <a:r>
              <a:rPr sz="1200" dirty="0" err="1"/>
              <a:t>categorias</a:t>
            </a:r>
            <a:r>
              <a:rPr sz="1200" dirty="0"/>
              <a:t>.</a:t>
            </a:r>
          </a:p>
          <a:p>
            <a:pPr lvl="2"/>
            <a:r>
              <a:rPr sz="1200" dirty="0"/>
              <a:t>Ex: </a:t>
            </a:r>
            <a:r>
              <a:rPr sz="1200" dirty="0" err="1"/>
              <a:t>Cor</a:t>
            </a:r>
            <a:r>
              <a:rPr sz="1200" dirty="0"/>
              <a:t> dos </a:t>
            </a:r>
            <a:r>
              <a:rPr sz="1200" dirty="0" err="1"/>
              <a:t>olhos</a:t>
            </a:r>
            <a:r>
              <a:rPr sz="1200" dirty="0"/>
              <a:t>, </a:t>
            </a:r>
            <a:r>
              <a:rPr sz="1200" dirty="0" err="1"/>
              <a:t>Tipo</a:t>
            </a:r>
            <a:r>
              <a:rPr sz="1200" dirty="0"/>
              <a:t> de animal, CEP.</a:t>
            </a:r>
          </a:p>
          <a:p>
            <a:pPr lvl="2"/>
            <a:r>
              <a:rPr sz="1200" dirty="0" err="1"/>
              <a:t>Subtipos</a:t>
            </a:r>
            <a:r>
              <a:rPr sz="1200" dirty="0" smtClean="0"/>
              <a:t>:</a:t>
            </a:r>
            <a:endParaRPr lang="pt-BR" sz="1200" dirty="0" smtClean="0"/>
          </a:p>
          <a:p>
            <a:pPr lvl="3"/>
            <a:r>
              <a:rPr lang="pt-BR" sz="1100" b="1" dirty="0"/>
              <a:t>Variáveis Nominais:  </a:t>
            </a:r>
            <a:r>
              <a:rPr lang="pt-BR" sz="1100" dirty="0"/>
              <a:t>Categorias sem qualquer ordem ou hierarquia natural. São apenas "nomes" ou "rótulos" para diferenciar grupos. Por exemplo: Estado Civil {solteiro, caso, divorciado</a:t>
            </a:r>
            <a:r>
              <a:rPr lang="pt-BR" sz="1100" dirty="0" smtClean="0"/>
              <a:t>}</a:t>
            </a:r>
          </a:p>
          <a:p>
            <a:pPr lvl="3"/>
            <a:endParaRPr lang="pt-BR" sz="1100" b="1" dirty="0" smtClean="0"/>
          </a:p>
          <a:p>
            <a:pPr lvl="3"/>
            <a:r>
              <a:rPr lang="pt-BR" sz="1100" b="1" dirty="0" smtClean="0"/>
              <a:t>Variáveis Ordinais: </a:t>
            </a:r>
            <a:r>
              <a:rPr lang="pt-BR" sz="1100" dirty="0"/>
              <a:t>Categorias que possuem uma </a:t>
            </a:r>
            <a:r>
              <a:rPr lang="pt-BR" sz="1100" b="1" dirty="0"/>
              <a:t>ordem natural</a:t>
            </a:r>
            <a:r>
              <a:rPr lang="pt-BR" sz="1100" dirty="0"/>
              <a:t> ou hierarquia, embora os intervalos entre as categorias não sejam necessariamente iguais ou conhecidos</a:t>
            </a:r>
            <a:r>
              <a:rPr lang="pt-BR" sz="1100" dirty="0" smtClean="0"/>
              <a:t>. Por exemplo: Nível Escolar {fundamental, médio, superior, pós graduação}</a:t>
            </a:r>
            <a:endParaRPr lang="pt-BR" sz="1100" b="1" dirty="0"/>
          </a:p>
          <a:p>
            <a:pPr marL="1371600" lvl="3" indent="0">
              <a:buNone/>
            </a:pPr>
            <a:endParaRPr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 dirty="0"/>
              <a:t>A </a:t>
            </a:r>
            <a:r>
              <a:rPr sz="2400" dirty="0" err="1"/>
              <a:t>Necessidade</a:t>
            </a:r>
            <a:r>
              <a:rPr sz="2400" dirty="0"/>
              <a:t> de </a:t>
            </a:r>
            <a:r>
              <a:rPr sz="2400" dirty="0" err="1"/>
              <a:t>Escalas</a:t>
            </a:r>
            <a:r>
              <a:rPr sz="2400" dirty="0"/>
              <a:t> </a:t>
            </a:r>
            <a:r>
              <a:rPr sz="2400" dirty="0" err="1"/>
              <a:t>Comparáveis</a:t>
            </a:r>
            <a:endParaRPr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 smtClean="0"/>
                  <a:t>O </a:t>
                </a:r>
                <a:r>
                  <a:rPr lang="pt-BR" sz="2400" dirty="0" err="1"/>
                  <a:t>Problema</a:t>
                </a:r>
                <a:r>
                  <a:rPr lang="pt-BR" sz="2400" dirty="0"/>
                  <a:t>: </a:t>
                </a:r>
                <a:r>
                  <a:rPr lang="pt-BR" sz="2400" dirty="0" err="1"/>
                  <a:t>Sensibilidade</a:t>
                </a:r>
                <a:r>
                  <a:rPr lang="pt-BR" sz="2400" dirty="0"/>
                  <a:t> à </a:t>
                </a:r>
                <a:r>
                  <a:rPr lang="pt-BR" sz="2400" dirty="0" err="1" smtClean="0"/>
                  <a:t>escala</a:t>
                </a:r>
                <a:r>
                  <a:rPr lang="pt-BR" sz="2400" dirty="0" smtClean="0"/>
                  <a:t>.</a:t>
                </a:r>
                <a:endParaRPr lang="pt-BR" sz="2400" dirty="0"/>
              </a:p>
              <a:p>
                <a:pPr lvl="1"/>
                <a:r>
                  <a:rPr lang="pt-BR" sz="2000" dirty="0" err="1"/>
                  <a:t>Exemplo</a:t>
                </a:r>
                <a:r>
                  <a:rPr lang="pt-BR" sz="2000" dirty="0"/>
                  <a:t>: </a:t>
                </a:r>
                <a:r>
                  <a:rPr lang="pt-BR" sz="2000" dirty="0" err="1"/>
                  <a:t>Idade</a:t>
                </a:r>
                <a:r>
                  <a:rPr lang="pt-BR" sz="2000" dirty="0"/>
                  <a:t> (0-100) vs Renda (0-1.000.000).</a:t>
                </a:r>
              </a:p>
              <a:p>
                <a:pPr lvl="1"/>
                <a:r>
                  <a:rPr lang="pt-BR" sz="2000" dirty="0"/>
                  <a:t>A </a:t>
                </a:r>
                <a:r>
                  <a:rPr lang="pt-BR" sz="2000" dirty="0" err="1"/>
                  <a:t>variável</a:t>
                </a:r>
                <a:r>
                  <a:rPr lang="pt-BR" sz="2000" dirty="0"/>
                  <a:t> com </a:t>
                </a:r>
                <a:r>
                  <a:rPr lang="pt-BR" sz="2000" dirty="0" err="1"/>
                  <a:t>maior</a:t>
                </a:r>
                <a:r>
                  <a:rPr lang="pt-BR" sz="2000" dirty="0"/>
                  <a:t> magnitude </a:t>
                </a:r>
                <a:r>
                  <a:rPr lang="pt-BR" sz="2000" dirty="0" err="1"/>
                  <a:t>domina</a:t>
                </a:r>
                <a:r>
                  <a:rPr lang="pt-BR" sz="2000" dirty="0"/>
                  <a:t> a </a:t>
                </a:r>
                <a:r>
                  <a:rPr lang="pt-BR" sz="2000" dirty="0" err="1"/>
                  <a:t>distância</a:t>
                </a:r>
                <a:r>
                  <a:rPr lang="pt-BR" sz="2000" dirty="0"/>
                  <a:t>.</a:t>
                </a:r>
              </a:p>
              <a:p>
                <a:pPr marL="457200" lvl="1" indent="0">
                  <a:buNone/>
                </a:pPr>
                <a:endParaRPr lang="pt-BR" sz="2000" dirty="0"/>
              </a:p>
              <a:p>
                <a:pPr lvl="1"/>
                <a:r>
                  <a:rPr lang="pt-BR" sz="2000" dirty="0" err="1"/>
                  <a:t>Solução</a:t>
                </a:r>
                <a:r>
                  <a:rPr lang="pt-BR" sz="2000" dirty="0"/>
                  <a:t>: </a:t>
                </a:r>
                <a:r>
                  <a:rPr lang="pt-BR" sz="2000" dirty="0" err="1"/>
                  <a:t>Ajustar</a:t>
                </a:r>
                <a:r>
                  <a:rPr lang="pt-BR" sz="2000" dirty="0"/>
                  <a:t> para </a:t>
                </a:r>
                <a:r>
                  <a:rPr lang="pt-BR" sz="2000" dirty="0" err="1"/>
                  <a:t>escala</a:t>
                </a:r>
                <a:r>
                  <a:rPr lang="pt-BR" sz="2000" dirty="0"/>
                  <a:t> </a:t>
                </a:r>
                <a:r>
                  <a:rPr lang="pt-BR" sz="2000" dirty="0" err="1"/>
                  <a:t>comum</a:t>
                </a:r>
                <a:r>
                  <a:rPr lang="pt-BR" sz="2000" dirty="0"/>
                  <a:t>.</a:t>
                </a:r>
              </a:p>
              <a:p>
                <a:pPr marL="457200" lvl="1" indent="0">
                  <a:buNone/>
                </a:pPr>
                <a:endParaRPr lang="pt-BR" sz="2000" dirty="0"/>
              </a:p>
              <a:p>
                <a:pPr lvl="1"/>
                <a:r>
                  <a:rPr lang="pt-BR" sz="2000" dirty="0"/>
                  <a:t>Min-Max Scaler:</a:t>
                </a:r>
              </a:p>
              <a:p>
                <a:pPr lvl="2"/>
                <a:r>
                  <a:rPr lang="pt-BR" sz="1800" dirty="0"/>
                  <a:t>Objetivo: Redimensionar para intervalo [0,1</a:t>
                </a:r>
                <a:r>
                  <a:rPr lang="pt-BR" sz="1800" dirty="0" smtClean="0"/>
                  <a:t>].</a:t>
                </a:r>
              </a:p>
              <a:p>
                <a:pPr marL="914400" lvl="2" indent="0">
                  <a:buNone/>
                </a:pPr>
                <a:endParaRPr lang="pt-BR" sz="1800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8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sz="18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sz="1800" b="0" i="1" smtClean="0">
                              <a:latin typeface="Cambria Math"/>
                            </a:rPr>
                            <m:t>𝑛𝑜𝑟𝑚</m:t>
                          </m:r>
                        </m:sub>
                      </m:sSub>
                      <m:r>
                        <a:rPr lang="pt-BR" sz="18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pt-BR" sz="18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pt-BR" sz="1800" b="0" i="1" smtClean="0">
                              <a:latin typeface="Cambria Math"/>
                            </a:rPr>
                            <m:t>(</m:t>
                          </m:r>
                          <m:r>
                            <a:rPr lang="pt-BR" sz="1800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pt-BR" sz="1800" b="0" i="1" smtClean="0">
                              <a:latin typeface="Cambria Math"/>
                            </a:rPr>
                            <m:t> −</m:t>
                          </m:r>
                          <m:sSub>
                            <m:sSubPr>
                              <m:ctrlPr>
                                <a:rPr lang="pt-BR" sz="18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pt-BR" sz="18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1800" b="0" i="1" smtClean="0">
                                  <a:latin typeface="Cambria Math"/>
                                </a:rPr>
                                <m:t>𝑚𝑖𝑛</m:t>
                              </m:r>
                            </m:sub>
                          </m:sSub>
                          <m:r>
                            <a:rPr lang="pt-BR" sz="18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pt-BR" sz="1800" b="0" i="1" smtClean="0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sz="18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pt-BR" sz="18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1800" b="0" i="1" smtClean="0">
                                  <a:latin typeface="Cambria Math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pt-BR" sz="1800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18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pt-BR" sz="18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func>
                                <m:funcPr>
                                  <m:ctrlPr>
                                    <a:rPr lang="pt-BR" sz="1800" b="0" i="1" smtClean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 sz="1800" b="0" i="0" smtClean="0">
                                      <a:latin typeface="Cambria Math"/>
                                    </a:rPr>
                                    <m:t>min</m:t>
                                  </m:r>
                                </m:fName>
                                <m:e/>
                              </m:func>
                            </m:sub>
                          </m:sSub>
                          <m:r>
                            <a:rPr lang="pt-BR" sz="1800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 dirty="0" err="1"/>
              <a:t>Aplicando</a:t>
            </a:r>
            <a:r>
              <a:rPr sz="2400" dirty="0"/>
              <a:t> o Min-Max Scaler </a:t>
            </a:r>
            <a:r>
              <a:rPr sz="2400" dirty="0" err="1"/>
              <a:t>na</a:t>
            </a:r>
            <a:r>
              <a:rPr sz="2400" dirty="0"/>
              <a:t> </a:t>
            </a:r>
            <a:r>
              <a:rPr sz="2400" dirty="0" err="1"/>
              <a:t>Prática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 err="1"/>
              <a:t>Exemplo</a:t>
            </a:r>
            <a:r>
              <a:rPr sz="2800" dirty="0"/>
              <a:t>: </a:t>
            </a:r>
            <a:r>
              <a:rPr sz="2800" dirty="0" err="1"/>
              <a:t>Salários</a:t>
            </a:r>
            <a:r>
              <a:rPr sz="2800" dirty="0"/>
              <a:t> [1500, 3000, 5500, 10000]</a:t>
            </a:r>
          </a:p>
          <a:p>
            <a:pPr lvl="1"/>
            <a:r>
              <a:rPr sz="2400" dirty="0" err="1"/>
              <a:t>X_min</a:t>
            </a:r>
            <a:r>
              <a:rPr sz="2400" dirty="0"/>
              <a:t> = 1500 | </a:t>
            </a:r>
            <a:r>
              <a:rPr sz="2400" dirty="0" err="1"/>
              <a:t>X_max</a:t>
            </a:r>
            <a:r>
              <a:rPr sz="2400" dirty="0"/>
              <a:t> = 10000</a:t>
            </a:r>
          </a:p>
          <a:p>
            <a:pPr lvl="1"/>
            <a:r>
              <a:rPr sz="2400" dirty="0"/>
              <a:t>Para 5500: (5500 - 1500) / (10000 - 1500) ≈ 0,47</a:t>
            </a:r>
          </a:p>
          <a:p>
            <a:pPr marL="457200" lvl="1" indent="0">
              <a:buNone/>
            </a:pPr>
            <a:endParaRPr sz="2400" dirty="0"/>
          </a:p>
          <a:p>
            <a:pPr lvl="1"/>
            <a:r>
              <a:rPr sz="2400" dirty="0" err="1"/>
              <a:t>Cuidados</a:t>
            </a:r>
            <a:r>
              <a:rPr sz="2400" dirty="0"/>
              <a:t>:</a:t>
            </a:r>
          </a:p>
          <a:p>
            <a:pPr lvl="2"/>
            <a:r>
              <a:rPr sz="2000" dirty="0" err="1"/>
              <a:t>Sensível</a:t>
            </a:r>
            <a:r>
              <a:rPr sz="2000" dirty="0"/>
              <a:t> a </a:t>
            </a:r>
            <a:r>
              <a:rPr lang="pt-BR" sz="2000" dirty="0" smtClean="0"/>
              <a:t>valores anômalos (</a:t>
            </a:r>
            <a:r>
              <a:rPr sz="2000" i="1" dirty="0" smtClean="0"/>
              <a:t>outliers</a:t>
            </a:r>
            <a:r>
              <a:rPr lang="pt-BR" sz="2000" dirty="0" smtClean="0"/>
              <a:t>)</a:t>
            </a:r>
            <a:r>
              <a:rPr sz="2000" dirty="0" smtClean="0"/>
              <a:t>.</a:t>
            </a:r>
            <a:endParaRPr sz="2000" dirty="0"/>
          </a:p>
          <a:p>
            <a:pPr lvl="2"/>
            <a:r>
              <a:rPr sz="2000" dirty="0" err="1"/>
              <a:t>Evitar</a:t>
            </a:r>
            <a:r>
              <a:rPr sz="2000" dirty="0"/>
              <a:t> data leakage: </a:t>
            </a:r>
            <a:r>
              <a:rPr lang="pt-BR" sz="2000" dirty="0" smtClean="0"/>
              <a:t>a amplitude dos dados de treino e de testes deve ser calculada em conjunto (</a:t>
            </a:r>
            <a:r>
              <a:rPr lang="pt-BR" sz="2000" b="1" dirty="0" smtClean="0">
                <a:solidFill>
                  <a:schemeClr val="accent1">
                    <a:lumMod val="75000"/>
                  </a:schemeClr>
                </a:solidFill>
                <a:latin typeface="Gabriola" panose="04040605051002020D02" pitchFamily="82" charset="0"/>
              </a:rPr>
              <a:t>anote a explicação</a:t>
            </a:r>
            <a:r>
              <a:rPr lang="pt-BR" sz="2000" dirty="0" smtClean="0"/>
              <a:t>)</a:t>
            </a:r>
            <a:r>
              <a:rPr sz="2000" dirty="0" smtClean="0"/>
              <a:t>.</a:t>
            </a:r>
            <a:endParaRPr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2400" dirty="0" err="1"/>
              <a:t>Transformando</a:t>
            </a:r>
            <a:r>
              <a:rPr sz="2400" dirty="0"/>
              <a:t> </a:t>
            </a:r>
            <a:r>
              <a:rPr sz="2400" dirty="0" err="1"/>
              <a:t>Categorias</a:t>
            </a:r>
            <a:r>
              <a:rPr sz="2400" dirty="0"/>
              <a:t> </a:t>
            </a:r>
            <a:r>
              <a:rPr sz="2400" dirty="0" err="1"/>
              <a:t>em</a:t>
            </a:r>
            <a:r>
              <a:rPr sz="2400" dirty="0"/>
              <a:t> </a:t>
            </a:r>
            <a:r>
              <a:rPr sz="2400" dirty="0" err="1"/>
              <a:t>Números</a:t>
            </a:r>
            <a:r>
              <a:rPr sz="2400" dirty="0"/>
              <a:t> </a:t>
            </a:r>
            <a:r>
              <a:rPr sz="2400" dirty="0" err="1"/>
              <a:t>sem</a:t>
            </a:r>
            <a:r>
              <a:rPr sz="2400" dirty="0"/>
              <a:t> </a:t>
            </a:r>
            <a:r>
              <a:rPr sz="2400" dirty="0" err="1"/>
              <a:t>Criar</a:t>
            </a:r>
            <a:r>
              <a:rPr sz="2400" dirty="0"/>
              <a:t> </a:t>
            </a:r>
            <a:r>
              <a:rPr sz="2400" dirty="0" err="1"/>
              <a:t>Ordem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 err="1" smtClean="0"/>
              <a:t>Erro</a:t>
            </a:r>
            <a:r>
              <a:rPr sz="2000" dirty="0" smtClean="0"/>
              <a:t> </a:t>
            </a:r>
            <a:r>
              <a:rPr sz="2000" dirty="0" err="1"/>
              <a:t>comum</a:t>
            </a:r>
            <a:r>
              <a:rPr sz="2000" dirty="0"/>
              <a:t>: </a:t>
            </a:r>
            <a:r>
              <a:rPr sz="2000" dirty="0" err="1"/>
              <a:t>Atribuir</a:t>
            </a:r>
            <a:r>
              <a:rPr sz="2000" dirty="0"/>
              <a:t> </a:t>
            </a:r>
            <a:r>
              <a:rPr sz="2000" dirty="0" err="1"/>
              <a:t>números</a:t>
            </a:r>
            <a:r>
              <a:rPr sz="2000" dirty="0"/>
              <a:t> </a:t>
            </a:r>
            <a:r>
              <a:rPr sz="2000" dirty="0" err="1"/>
              <a:t>arbitrários</a:t>
            </a:r>
            <a:r>
              <a:rPr sz="2000" dirty="0"/>
              <a:t> </a:t>
            </a:r>
            <a:r>
              <a:rPr sz="2000" dirty="0" err="1"/>
              <a:t>cria</a:t>
            </a:r>
            <a:r>
              <a:rPr sz="2000" dirty="0"/>
              <a:t> </a:t>
            </a:r>
            <a:r>
              <a:rPr sz="2000" dirty="0" err="1"/>
              <a:t>ordem</a:t>
            </a:r>
            <a:r>
              <a:rPr sz="2000" dirty="0"/>
              <a:t> </a:t>
            </a:r>
            <a:r>
              <a:rPr sz="2000" dirty="0" err="1"/>
              <a:t>inexistente</a:t>
            </a:r>
            <a:r>
              <a:rPr sz="2000" dirty="0"/>
              <a:t>.</a:t>
            </a:r>
          </a:p>
          <a:p>
            <a:pPr lvl="1"/>
            <a:r>
              <a:rPr lang="pt-BR" sz="1800" dirty="0" err="1" smtClean="0"/>
              <a:t>Label</a:t>
            </a:r>
            <a:r>
              <a:rPr lang="pt-BR" sz="1800" dirty="0" smtClean="0"/>
              <a:t> </a:t>
            </a:r>
            <a:r>
              <a:rPr lang="pt-BR" sz="1800" dirty="0" err="1"/>
              <a:t>Encoding</a:t>
            </a:r>
            <a:r>
              <a:rPr lang="pt-BR" sz="1800" dirty="0" smtClean="0"/>
              <a:t>:</a:t>
            </a:r>
          </a:p>
          <a:p>
            <a:pPr lvl="2"/>
            <a:r>
              <a:rPr lang="pt-BR" sz="1400" dirty="0" smtClean="0"/>
              <a:t>Atribui um valor numérico arbitrário a cada categoria</a:t>
            </a:r>
          </a:p>
          <a:p>
            <a:pPr lvl="2"/>
            <a:endParaRPr lang="pt-BR" sz="1400" dirty="0"/>
          </a:p>
          <a:p>
            <a:pPr marL="457200" lvl="1" indent="0">
              <a:buNone/>
            </a:pPr>
            <a:endParaRPr sz="1800" dirty="0"/>
          </a:p>
          <a:p>
            <a:pPr lvl="1"/>
            <a:endParaRPr lang="pt-BR" sz="1800" dirty="0" smtClean="0"/>
          </a:p>
          <a:p>
            <a:pPr lvl="1"/>
            <a:endParaRPr lang="pt-BR" sz="1800" dirty="0"/>
          </a:p>
          <a:p>
            <a:pPr lvl="1"/>
            <a:r>
              <a:rPr sz="1800" dirty="0" smtClean="0"/>
              <a:t>One-Hot </a:t>
            </a:r>
            <a:r>
              <a:rPr sz="1800" dirty="0"/>
              <a:t>Encoding:</a:t>
            </a:r>
          </a:p>
          <a:p>
            <a:pPr lvl="2"/>
            <a:r>
              <a:rPr sz="1600" dirty="0" err="1"/>
              <a:t>Cria</a:t>
            </a:r>
            <a:r>
              <a:rPr sz="1600" dirty="0"/>
              <a:t> </a:t>
            </a:r>
            <a:r>
              <a:rPr sz="1600" dirty="0" err="1"/>
              <a:t>uma</a:t>
            </a:r>
            <a:r>
              <a:rPr sz="1600" dirty="0"/>
              <a:t> </a:t>
            </a:r>
            <a:r>
              <a:rPr sz="1600" dirty="0" err="1"/>
              <a:t>coluna</a:t>
            </a:r>
            <a:r>
              <a:rPr sz="1600" dirty="0"/>
              <a:t> </a:t>
            </a:r>
            <a:r>
              <a:rPr sz="1600" dirty="0" err="1"/>
              <a:t>binária</a:t>
            </a:r>
            <a:r>
              <a:rPr sz="1600" dirty="0"/>
              <a:t> para </a:t>
            </a:r>
            <a:r>
              <a:rPr sz="1600" dirty="0" err="1"/>
              <a:t>cada</a:t>
            </a:r>
            <a:r>
              <a:rPr sz="1600" dirty="0"/>
              <a:t> </a:t>
            </a:r>
            <a:r>
              <a:rPr sz="1600" dirty="0" err="1"/>
              <a:t>categoria</a:t>
            </a:r>
            <a:r>
              <a:rPr sz="1600" dirty="0"/>
              <a:t>.</a:t>
            </a:r>
          </a:p>
          <a:p>
            <a:pPr lvl="2"/>
            <a:r>
              <a:rPr sz="1600" dirty="0" err="1"/>
              <a:t>Mantém</a:t>
            </a:r>
            <a:r>
              <a:rPr sz="1600" dirty="0"/>
              <a:t> </a:t>
            </a:r>
            <a:r>
              <a:rPr sz="1600" dirty="0" err="1"/>
              <a:t>informação</a:t>
            </a:r>
            <a:r>
              <a:rPr sz="1600" dirty="0"/>
              <a:t> </a:t>
            </a:r>
            <a:r>
              <a:rPr sz="1600" dirty="0" err="1"/>
              <a:t>sem</a:t>
            </a:r>
            <a:r>
              <a:rPr sz="1600" dirty="0"/>
              <a:t> </a:t>
            </a:r>
            <a:r>
              <a:rPr sz="1600" dirty="0" err="1"/>
              <a:t>criar</a:t>
            </a:r>
            <a:r>
              <a:rPr sz="1600" dirty="0"/>
              <a:t> </a:t>
            </a:r>
            <a:r>
              <a:rPr sz="1600" dirty="0" err="1"/>
              <a:t>hierarquia</a:t>
            </a:r>
            <a:r>
              <a:rPr sz="1600" dirty="0" smtClean="0"/>
              <a:t>.</a:t>
            </a:r>
            <a:endParaRPr sz="1600" dirty="0"/>
          </a:p>
          <a:p>
            <a:pPr lvl="2"/>
            <a:r>
              <a:rPr lang="pt-BR" sz="1400" dirty="0" smtClean="0"/>
              <a:t>Exemplo: Atributo Gênero</a:t>
            </a:r>
          </a:p>
          <a:p>
            <a:pPr marL="457200" lvl="1" indent="0">
              <a:buNone/>
            </a:pPr>
            <a:endParaRPr lang="pt-BR" sz="1800" dirty="0"/>
          </a:p>
          <a:p>
            <a:pPr marL="457200" lvl="1" indent="0">
              <a:buNone/>
            </a:pPr>
            <a:endParaRPr sz="18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2350" y="2642003"/>
            <a:ext cx="2019300" cy="118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4945063"/>
            <a:ext cx="3352800" cy="118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937"/>
            <a:ext cx="8229600" cy="1143000"/>
          </a:xfrm>
        </p:spPr>
        <p:txBody>
          <a:bodyPr>
            <a:noAutofit/>
          </a:bodyPr>
          <a:lstStyle/>
          <a:p>
            <a:r>
              <a:rPr lang="pt-BR" sz="2800" dirty="0" smtClean="0"/>
              <a:t>Exemplos de código</a:t>
            </a:r>
            <a:endParaRPr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332" y="1171973"/>
            <a:ext cx="3572585" cy="2639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655011" y="802640"/>
            <a:ext cx="11361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 err="1" smtClean="0"/>
              <a:t>MinMax</a:t>
            </a:r>
            <a:r>
              <a:rPr lang="pt-BR" sz="1200" b="1" dirty="0" smtClean="0"/>
              <a:t> </a:t>
            </a:r>
            <a:r>
              <a:rPr lang="pt-BR" sz="1200" b="1" dirty="0" err="1" smtClean="0"/>
              <a:t>Scaler</a:t>
            </a:r>
            <a:endParaRPr lang="pt-BR" sz="1200" b="1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332" y="4487929"/>
            <a:ext cx="5172075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CaixaDeTexto 9"/>
          <p:cNvSpPr txBox="1"/>
          <p:nvPr/>
        </p:nvSpPr>
        <p:spPr>
          <a:xfrm>
            <a:off x="655011" y="4209766"/>
            <a:ext cx="11440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 err="1" smtClean="0"/>
              <a:t>Label</a:t>
            </a:r>
            <a:r>
              <a:rPr lang="pt-BR" sz="1200" b="1" dirty="0" smtClean="0"/>
              <a:t> </a:t>
            </a:r>
            <a:r>
              <a:rPr lang="pt-BR" sz="1200" b="1" dirty="0" err="1" smtClean="0"/>
              <a:t>Encoding</a:t>
            </a:r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37163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937"/>
            <a:ext cx="8229600" cy="1143000"/>
          </a:xfrm>
        </p:spPr>
        <p:txBody>
          <a:bodyPr>
            <a:noAutofit/>
          </a:bodyPr>
          <a:lstStyle/>
          <a:p>
            <a:r>
              <a:rPr lang="pt-BR" sz="2800" dirty="0" smtClean="0"/>
              <a:t>Exemplos de código</a:t>
            </a:r>
            <a:endParaRPr sz="2800" dirty="0"/>
          </a:p>
        </p:txBody>
      </p:sp>
      <p:sp>
        <p:nvSpPr>
          <p:cNvPr id="5" name="CaixaDeTexto 4"/>
          <p:cNvSpPr txBox="1"/>
          <p:nvPr/>
        </p:nvSpPr>
        <p:spPr>
          <a:xfrm>
            <a:off x="655011" y="802640"/>
            <a:ext cx="13492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 err="1" smtClean="0"/>
              <a:t>One</a:t>
            </a:r>
            <a:r>
              <a:rPr lang="pt-BR" sz="1200" b="1" dirty="0" smtClean="0"/>
              <a:t>-Hot </a:t>
            </a:r>
            <a:r>
              <a:rPr lang="pt-BR" sz="1200" b="1" dirty="0" err="1" smtClean="0"/>
              <a:t>Encoding</a:t>
            </a:r>
            <a:endParaRPr lang="pt-BR" sz="1200" b="1" dirty="0"/>
          </a:p>
        </p:txBody>
      </p:sp>
      <p:sp>
        <p:nvSpPr>
          <p:cNvPr id="3" name="CaixaDeTexto 2"/>
          <p:cNvSpPr txBox="1"/>
          <p:nvPr/>
        </p:nvSpPr>
        <p:spPr>
          <a:xfrm>
            <a:off x="1171977" y="13136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159" y="1079639"/>
            <a:ext cx="5697537" cy="217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159" y="3224572"/>
            <a:ext cx="5391150" cy="2295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7165" y="1102240"/>
            <a:ext cx="3524250" cy="201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CaixaDeTexto 8"/>
          <p:cNvSpPr txBox="1"/>
          <p:nvPr/>
        </p:nvSpPr>
        <p:spPr>
          <a:xfrm>
            <a:off x="457200" y="11022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1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58757" y="32513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2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5136068" y="11022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3</a:t>
            </a:r>
            <a:endParaRPr lang="pt-BR" b="1" dirty="0"/>
          </a:p>
        </p:txBody>
      </p:sp>
      <p:cxnSp>
        <p:nvCxnSpPr>
          <p:cNvPr id="12" name="Conector reto 11"/>
          <p:cNvCxnSpPr/>
          <p:nvPr/>
        </p:nvCxnSpPr>
        <p:spPr>
          <a:xfrm>
            <a:off x="4932608" y="1102240"/>
            <a:ext cx="12879" cy="461598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795159" y="3155325"/>
            <a:ext cx="8166256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5412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 err="1"/>
              <a:t>Referências</a:t>
            </a:r>
            <a:r>
              <a:rPr sz="2800" dirty="0"/>
              <a:t> </a:t>
            </a:r>
            <a:r>
              <a:rPr sz="2800" dirty="0" err="1"/>
              <a:t>Bibliográficas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FACELI, </a:t>
            </a:r>
            <a:r>
              <a:rPr sz="2000" dirty="0" err="1"/>
              <a:t>Katti</a:t>
            </a:r>
            <a:r>
              <a:rPr sz="2000" dirty="0"/>
              <a:t> et al. </a:t>
            </a:r>
            <a:r>
              <a:rPr sz="2000" dirty="0" err="1"/>
              <a:t>Inteligência</a:t>
            </a:r>
            <a:r>
              <a:rPr sz="2000" dirty="0"/>
              <a:t> Artificial: Uma </a:t>
            </a:r>
            <a:r>
              <a:rPr sz="2000" dirty="0" err="1"/>
              <a:t>Abordagem</a:t>
            </a:r>
            <a:r>
              <a:rPr sz="2000" dirty="0"/>
              <a:t> de </a:t>
            </a:r>
            <a:r>
              <a:rPr sz="2000" dirty="0" err="1"/>
              <a:t>Aprendizado</a:t>
            </a:r>
            <a:r>
              <a:rPr sz="2000" dirty="0"/>
              <a:t> de </a:t>
            </a:r>
            <a:r>
              <a:rPr sz="2000" dirty="0" err="1"/>
              <a:t>Máquina</a:t>
            </a:r>
            <a:r>
              <a:rPr sz="2000" dirty="0"/>
              <a:t>. LTC, 2021.</a:t>
            </a:r>
          </a:p>
          <a:p>
            <a:r>
              <a:rPr sz="2200" dirty="0"/>
              <a:t>GÉRON, </a:t>
            </a:r>
            <a:r>
              <a:rPr sz="2200" dirty="0" err="1"/>
              <a:t>Aurélien</a:t>
            </a:r>
            <a:r>
              <a:rPr sz="2200" dirty="0"/>
              <a:t>. </a:t>
            </a:r>
            <a:r>
              <a:rPr sz="2200" dirty="0" err="1"/>
              <a:t>Mãos</a:t>
            </a:r>
            <a:r>
              <a:rPr sz="2200" dirty="0"/>
              <a:t> à </a:t>
            </a:r>
            <a:r>
              <a:rPr sz="2200" dirty="0" err="1"/>
              <a:t>Obra</a:t>
            </a:r>
            <a:r>
              <a:rPr sz="2200" dirty="0"/>
              <a:t>: </a:t>
            </a:r>
            <a:r>
              <a:rPr sz="2200" dirty="0" err="1"/>
              <a:t>Aprendizado</a:t>
            </a:r>
            <a:r>
              <a:rPr sz="2200" dirty="0"/>
              <a:t> de </a:t>
            </a:r>
            <a:r>
              <a:rPr sz="2200" dirty="0" err="1"/>
              <a:t>Máquina</a:t>
            </a:r>
            <a:r>
              <a:rPr sz="2200" dirty="0"/>
              <a:t> com </a:t>
            </a:r>
            <a:r>
              <a:rPr sz="2200" dirty="0" err="1"/>
              <a:t>Scikit</a:t>
            </a:r>
            <a:r>
              <a:rPr sz="2200" dirty="0"/>
              <a:t>-Learn &amp; </a:t>
            </a:r>
            <a:r>
              <a:rPr sz="2200" dirty="0" err="1"/>
              <a:t>TensorFlow</a:t>
            </a:r>
            <a:r>
              <a:rPr sz="2200" dirty="0"/>
              <a:t>. Alta Books, 2019.</a:t>
            </a:r>
          </a:p>
          <a:p>
            <a:r>
              <a:rPr sz="2200" dirty="0"/>
              <a:t>HASTIE, T.; TIBSHIRANI, R.; FRIEDMAN, J. The Elements of Statistical Learning. Springer, 2009.</a:t>
            </a:r>
          </a:p>
          <a:p>
            <a:r>
              <a:rPr sz="2200" dirty="0"/>
              <a:t>MCKINNEY, Wes. Python para </a:t>
            </a:r>
            <a:r>
              <a:rPr sz="2200" dirty="0" err="1"/>
              <a:t>Análise</a:t>
            </a:r>
            <a:r>
              <a:rPr sz="2200" dirty="0"/>
              <a:t> de Dados. </a:t>
            </a:r>
            <a:r>
              <a:rPr sz="2200" dirty="0" err="1"/>
              <a:t>Novatec</a:t>
            </a:r>
            <a:r>
              <a:rPr sz="2200" dirty="0"/>
              <a:t>, 2018.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352</Words>
  <Application>Microsoft Office PowerPoint</Application>
  <PresentationFormat>Apresentação na tela (4:3)</PresentationFormat>
  <Paragraphs>64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8" baseType="lpstr">
      <vt:lpstr>Office Theme</vt:lpstr>
      <vt:lpstr>Pré-Processamento de Dados: A Base do Aprendizado</vt:lpstr>
      <vt:lpstr>A Necessidade de Escalas Comparáveis</vt:lpstr>
      <vt:lpstr>Aplicando o Min-Max Scaler na Prática</vt:lpstr>
      <vt:lpstr>Transformando Categorias em Números sem Criar Ordem</vt:lpstr>
      <vt:lpstr>Exemplos de código</vt:lpstr>
      <vt:lpstr>Exemplos de código</vt:lpstr>
      <vt:lpstr>Referências Bibliográficas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Pré-Processamento de Dados: A Base do Aprendizado</dc:title>
  <dc:subject/>
  <dc:creator/>
  <cp:keywords/>
  <dc:description>generated using python-pptx</dc:description>
  <cp:lastModifiedBy>Convexa</cp:lastModifiedBy>
  <cp:revision>12</cp:revision>
  <dcterms:created xsi:type="dcterms:W3CDTF">2013-01-27T09:14:16Z</dcterms:created>
  <dcterms:modified xsi:type="dcterms:W3CDTF">2026-03-09T19:10:00Z</dcterms:modified>
  <cp:category/>
</cp:coreProperties>
</file>