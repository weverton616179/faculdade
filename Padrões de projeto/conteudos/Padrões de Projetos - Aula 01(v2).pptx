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8" r:id="rId9"/>
    <p:sldId id="267" r:id="rId10"/>
    <p:sldId id="261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iwNr4QCaE+FxQxUo8oRhLXe6Pr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-996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52731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6457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7938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4487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4667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e54c91e3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e54c91e3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225163"/>
            <a:ext cx="10515600" cy="58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942392"/>
            <a:ext cx="10515600" cy="5234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eandro.escobar@up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portuguese/news/os-principios-solid-da-programacao-orientada-a-objetos-explicados-em-bom-portugues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desenvolvendo-com-paixao/o-que-%C3%A9-solid-o-guia-completo-para-voc%C3%AA-entender-os-5-princ%C3%ADpios-da-poo-2b937b3fc53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elipecesar.dev/posts/princ%C3%ADpio-da-responsabilidade-%C3%BAnica-sr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Padrões de Projetos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Prof Escobar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Leandro.escobar@up.edu.br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41 98423 5242 (contato preferencial)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Procedimentos em sala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755779"/>
            <a:ext cx="10515600" cy="542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Horário: 19h00 – 21h50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Chamada: do meio para o final da aula. Se precisar sair antes, me avise para registrar sua presença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Treinamento e avaliação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Exercícios em sala para desenvolvimento das habilidades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Trabalhos em sala e em casa para avaliação (5 pontos)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Avaliação semestral (5 pontos)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Esquema geral de estudos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755779"/>
            <a:ext cx="10515600" cy="542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u="sng" dirty="0" err="1"/>
              <a:t>Serão</a:t>
            </a:r>
            <a:r>
              <a:rPr lang="en-US" b="1" u="sng" dirty="0"/>
              <a:t> </a:t>
            </a:r>
            <a:r>
              <a:rPr lang="en-US" b="1" u="sng" dirty="0" err="1"/>
              <a:t>apresentados</a:t>
            </a:r>
            <a:r>
              <a:rPr lang="en-US" b="1" u="sng" dirty="0"/>
              <a:t> </a:t>
            </a:r>
            <a:r>
              <a:rPr lang="en-US" b="1" u="sng" dirty="0" err="1"/>
              <a:t>os</a:t>
            </a:r>
            <a:r>
              <a:rPr lang="en-US" b="1" u="sng" dirty="0"/>
              <a:t> </a:t>
            </a:r>
            <a:r>
              <a:rPr lang="en-US" b="1" u="sng" dirty="0" err="1"/>
              <a:t>principais</a:t>
            </a:r>
            <a:r>
              <a:rPr lang="en-US" b="1" u="sng" dirty="0"/>
              <a:t> </a:t>
            </a:r>
            <a:r>
              <a:rPr lang="en-US" b="1" u="sng" dirty="0" err="1"/>
              <a:t>padrões</a:t>
            </a:r>
            <a:r>
              <a:rPr lang="en-US" b="1" u="sng" dirty="0"/>
              <a:t> de </a:t>
            </a:r>
            <a:r>
              <a:rPr lang="en-US" b="1" u="sng" dirty="0" err="1"/>
              <a:t>projeto</a:t>
            </a:r>
            <a:r>
              <a:rPr lang="en-US" b="1" u="sng" dirty="0"/>
              <a:t> de software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padrão</a:t>
            </a:r>
            <a:r>
              <a:rPr lang="en-US" dirty="0"/>
              <a:t> (pattern) </a:t>
            </a:r>
            <a:r>
              <a:rPr lang="en-US" dirty="0" err="1"/>
              <a:t>estudado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Desenhado</a:t>
            </a:r>
            <a:r>
              <a:rPr lang="en-US" dirty="0"/>
              <a:t> de </a:t>
            </a:r>
            <a:r>
              <a:rPr lang="en-US" dirty="0" err="1"/>
              <a:t>acordo</a:t>
            </a:r>
            <a:r>
              <a:rPr lang="en-US" dirty="0"/>
              <a:t> com a UML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Implementado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Java e </a:t>
            </a:r>
            <a:r>
              <a:rPr lang="en-US" dirty="0" err="1" smtClean="0"/>
              <a:t>NodeJs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Design Patterns – Padrões de Projeto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755779"/>
            <a:ext cx="10515600" cy="542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u="sng" dirty="0" err="1"/>
              <a:t>Padrões</a:t>
            </a:r>
            <a:r>
              <a:rPr lang="en-US" b="1" u="sng" dirty="0"/>
              <a:t> de </a:t>
            </a:r>
            <a:r>
              <a:rPr lang="en-US" b="1" u="sng" dirty="0" err="1"/>
              <a:t>Projeto</a:t>
            </a:r>
            <a:r>
              <a:rPr lang="en-US" dirty="0"/>
              <a:t> = </a:t>
            </a:r>
            <a:r>
              <a:rPr lang="en-US" dirty="0" err="1"/>
              <a:t>estratégias</a:t>
            </a:r>
            <a:r>
              <a:rPr lang="en-US" dirty="0"/>
              <a:t> (</a:t>
            </a:r>
            <a:r>
              <a:rPr lang="en-US" i="1" dirty="0"/>
              <a:t>patterns</a:t>
            </a:r>
            <a:r>
              <a:rPr lang="en-US" dirty="0"/>
              <a:t>) </a:t>
            </a:r>
            <a:r>
              <a:rPr lang="en-US" dirty="0" err="1"/>
              <a:t>desenho</a:t>
            </a:r>
            <a:r>
              <a:rPr lang="en-US" dirty="0"/>
              <a:t> (</a:t>
            </a:r>
            <a:r>
              <a:rPr lang="en-US" i="1" dirty="0"/>
              <a:t>design</a:t>
            </a:r>
            <a:r>
              <a:rPr lang="en-US" dirty="0"/>
              <a:t>) de software para a </a:t>
            </a:r>
            <a:r>
              <a:rPr lang="en-US" dirty="0" err="1"/>
              <a:t>resolução</a:t>
            </a:r>
            <a:r>
              <a:rPr lang="en-US" dirty="0"/>
              <a:t> de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comuns</a:t>
            </a:r>
            <a:r>
              <a:rPr lang="en-US" dirty="0"/>
              <a:t> </a:t>
            </a:r>
            <a:r>
              <a:rPr lang="en-US" dirty="0" err="1"/>
              <a:t>relativos</a:t>
            </a:r>
            <a:r>
              <a:rPr lang="en-US" dirty="0"/>
              <a:t> à </a:t>
            </a:r>
            <a:r>
              <a:rPr lang="en-US" dirty="0" err="1"/>
              <a:t>estrutura</a:t>
            </a:r>
            <a:r>
              <a:rPr lang="en-US" dirty="0"/>
              <a:t>, </a:t>
            </a:r>
            <a:r>
              <a:rPr lang="en-US" dirty="0" err="1"/>
              <a:t>comportamento</a:t>
            </a:r>
            <a:r>
              <a:rPr lang="en-US" dirty="0"/>
              <a:t> e </a:t>
            </a:r>
            <a:r>
              <a:rPr lang="en-US" dirty="0" err="1"/>
              <a:t>manutenibilidade</a:t>
            </a:r>
            <a:r>
              <a:rPr lang="en-US" dirty="0"/>
              <a:t> 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err="1"/>
              <a:t>Prevalentemente</a:t>
            </a:r>
            <a:r>
              <a:rPr lang="en-US" dirty="0"/>
              <a:t> </a:t>
            </a:r>
            <a:r>
              <a:rPr lang="en-US" dirty="0" err="1"/>
              <a:t>orientados</a:t>
            </a:r>
            <a:r>
              <a:rPr lang="en-US" dirty="0"/>
              <a:t> a </a:t>
            </a:r>
            <a:r>
              <a:rPr lang="en-US" dirty="0" err="1"/>
              <a:t>objetos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err="1"/>
              <a:t>Há</a:t>
            </a:r>
            <a:r>
              <a:rPr lang="en-US" dirty="0"/>
              <a:t> </a:t>
            </a:r>
            <a:r>
              <a:rPr lang="en-US" dirty="0" err="1"/>
              <a:t>padrões</a:t>
            </a:r>
            <a:r>
              <a:rPr lang="en-US" dirty="0"/>
              <a:t> para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funcional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sz="1600" i="1" dirty="0"/>
              <a:t>procedural(</a:t>
            </a:r>
            <a:r>
              <a:rPr lang="en-US" sz="1600" i="1" dirty="0" err="1"/>
              <a:t>termo</a:t>
            </a:r>
            <a:r>
              <a:rPr lang="en-US" sz="1600" i="1" dirty="0"/>
              <a:t> </a:t>
            </a:r>
            <a:r>
              <a:rPr lang="en-US" sz="1600" i="1" dirty="0" err="1"/>
              <a:t>inadequado-ultrapassado</a:t>
            </a:r>
            <a:r>
              <a:rPr lang="en-US" sz="1600" i="1" dirty="0"/>
              <a:t>)</a:t>
            </a:r>
            <a:endParaRPr i="1"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Design Patterns – Padrões de Projeto</a:t>
            </a:r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755779"/>
            <a:ext cx="10515600" cy="542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u="sng"/>
              <a:t>Ementa</a:t>
            </a:r>
            <a:endParaRPr b="1" u="sng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S.O.L.I.D.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Herança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Polimorfismo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Factory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Abstract factory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Singleton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Prototype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Observer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Facade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Adapter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Decorator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S.O.L.I.D</a:t>
            </a:r>
            <a:endParaRPr dirty="0"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755779"/>
            <a:ext cx="10515600" cy="542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Os princípios SOLID são um conjunto de cinco princípios de design de classes orientado a objetos que ajudam a entender a necessidade de determinados padrões de projetos e arquitetura de software em geral. Eles são um conjunto de regras e práticas recomendadas a serem seguidas na criação de uma estrutura de classe. Os princípios SOLID devem ser aplicados para se obter os benefícios da orientação a objetos, tais como: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Seja fácil de se manter, adaptar e se ajustar às alterações de escopo;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Seja testável e de fácil entendimento;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Seja extensível para alterações com o menor esforço necessário;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Que forneça o máximo de reaproveitamento;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Que permaneça o máximo de tempo possível em utilização.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pt-BR" sz="2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Os cinco princípios SOLID são: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Princípio da responsabilidade única (Single 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Responsibility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Princípio aberto/fechado (Open-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Closed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Princípio da substituição de 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Liskov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Liskov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Substitution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Princípio da segregação da interface (Interface 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Segregation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Princípio da inversão da dependência (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Dependency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Inversion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800" dirty="0" err="1"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pt-BR" sz="2800" dirty="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pt-BR" sz="2800" u="sng" baseline="300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1</a:t>
            </a:r>
            <a:r>
              <a:rPr lang="pt-BR" sz="2800" u="sng" baseline="300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3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pt-BR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9169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S: </a:t>
            </a:r>
            <a:r>
              <a:rPr lang="en-US" dirty="0" err="1"/>
              <a:t>Responsabilidade</a:t>
            </a:r>
            <a:r>
              <a:rPr lang="en-US" dirty="0"/>
              <a:t> </a:t>
            </a:r>
            <a:r>
              <a:rPr lang="en-US" dirty="0" err="1"/>
              <a:t>única</a:t>
            </a:r>
            <a:endParaRPr dirty="0"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755779"/>
            <a:ext cx="10515600" cy="542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Uma classe deve ter apenas uma responsabilidade, e esta responsabilidade deve estar totalmente encapsulada na respectiva classe.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Isso significa que uma classe deve ter um, e apenas um, motivo para ser modificada.</a:t>
            </a:r>
            <a:r>
              <a:rPr lang="pt-BR" sz="2800" dirty="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endParaRPr lang="pt-BR" sz="3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O objetivo é evitar que uma classe tenha muitas funções e dependências, o que dificulta a manutenção e a legibilidade do código.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pt-BR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0315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S: </a:t>
            </a:r>
            <a:r>
              <a:rPr lang="en-US" dirty="0" err="1"/>
              <a:t>Responsabilidade</a:t>
            </a:r>
            <a:r>
              <a:rPr lang="en-US" dirty="0"/>
              <a:t> </a:t>
            </a:r>
            <a:r>
              <a:rPr lang="en-US" dirty="0" err="1"/>
              <a:t>única</a:t>
            </a:r>
            <a:endParaRPr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D88B5D59-4E3A-7188-BC98-3077BFC2C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1015341"/>
            <a:ext cx="2937587" cy="273758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D96D9B6B-1A56-DE95-D55F-06996E99F407}"/>
              </a:ext>
            </a:extLst>
          </p:cNvPr>
          <p:cNvSpPr txBox="1"/>
          <p:nvPr/>
        </p:nvSpPr>
        <p:spPr>
          <a:xfrm>
            <a:off x="243840" y="3752923"/>
            <a:ext cx="29375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DescontoIR</a:t>
            </a:r>
            <a:r>
              <a:rPr lang="en-US" dirty="0">
                <a:solidFill>
                  <a:srgbClr val="C00000"/>
                </a:solidFill>
              </a:rPr>
              <a:t>() e </a:t>
            </a:r>
            <a:r>
              <a:rPr lang="en-US" dirty="0" err="1">
                <a:solidFill>
                  <a:srgbClr val="C00000"/>
                </a:solidFill>
              </a:rPr>
              <a:t>DescontoISS</a:t>
            </a:r>
            <a:r>
              <a:rPr lang="en-US" dirty="0">
                <a:solidFill>
                  <a:srgbClr val="C00000"/>
                </a:solidFill>
              </a:rPr>
              <a:t>() </a:t>
            </a:r>
            <a:r>
              <a:rPr lang="en-US" dirty="0" err="1">
                <a:solidFill>
                  <a:srgbClr val="C00000"/>
                </a:solidFill>
              </a:rPr>
              <a:t>são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métodos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exóticos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na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classe</a:t>
            </a:r>
            <a:r>
              <a:rPr lang="en-US" dirty="0">
                <a:solidFill>
                  <a:srgbClr val="C00000"/>
                </a:solidFill>
              </a:rPr>
              <a:t>, pois a </a:t>
            </a:r>
            <a:r>
              <a:rPr lang="en-US" dirty="0" err="1">
                <a:solidFill>
                  <a:srgbClr val="C00000"/>
                </a:solidFill>
              </a:rPr>
              <a:t>lógica</a:t>
            </a:r>
            <a:r>
              <a:rPr lang="en-US" dirty="0">
                <a:solidFill>
                  <a:srgbClr val="C00000"/>
                </a:solidFill>
              </a:rPr>
              <a:t> de </a:t>
            </a:r>
            <a:r>
              <a:rPr lang="en-US" dirty="0" err="1">
                <a:solidFill>
                  <a:srgbClr val="C00000"/>
                </a:solidFill>
              </a:rPr>
              <a:t>cada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desconto</a:t>
            </a:r>
            <a:r>
              <a:rPr lang="en-US" dirty="0">
                <a:solidFill>
                  <a:srgbClr val="C00000"/>
                </a:solidFill>
              </a:rPr>
              <a:t> é </a:t>
            </a:r>
            <a:r>
              <a:rPr lang="en-US" dirty="0" err="1">
                <a:solidFill>
                  <a:srgbClr val="C00000"/>
                </a:solidFill>
              </a:rPr>
              <a:t>exclusiva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pode</a:t>
            </a:r>
            <a:r>
              <a:rPr lang="en-US" dirty="0">
                <a:solidFill>
                  <a:srgbClr val="C00000"/>
                </a:solidFill>
              </a:rPr>
              <a:t> mudar </a:t>
            </a:r>
            <a:r>
              <a:rPr lang="en-US" dirty="0" err="1">
                <a:solidFill>
                  <a:srgbClr val="C00000"/>
                </a:solidFill>
              </a:rPr>
              <a:t>indendentemente</a:t>
            </a:r>
            <a:r>
              <a:rPr lang="en-US" dirty="0">
                <a:solidFill>
                  <a:srgbClr val="C00000"/>
                </a:solidFill>
              </a:rPr>
              <a:t> da </a:t>
            </a:r>
            <a:r>
              <a:rPr lang="en-US" dirty="0" err="1">
                <a:solidFill>
                  <a:srgbClr val="C00000"/>
                </a:solidFill>
              </a:rPr>
              <a:t>lógica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relativa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ao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funcionário</a:t>
            </a:r>
            <a:r>
              <a:rPr lang="en-US" dirty="0">
                <a:solidFill>
                  <a:srgbClr val="C00000"/>
                </a:solidFill>
              </a:rPr>
              <a:t>. 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549F2295-8DFE-FC5F-5BD9-A88A050B6F1A}"/>
              </a:ext>
            </a:extLst>
          </p:cNvPr>
          <p:cNvSpPr txBox="1"/>
          <p:nvPr/>
        </p:nvSpPr>
        <p:spPr>
          <a:xfrm>
            <a:off x="152400" y="755779"/>
            <a:ext cx="2937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C00000"/>
                </a:solidFill>
              </a:rPr>
              <a:t>Errado</a:t>
            </a:r>
            <a:endParaRPr lang="pt-BR" b="1" dirty="0">
              <a:solidFill>
                <a:srgbClr val="C00000"/>
              </a:solidFill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xmlns="" id="{9A269123-E0E3-2960-709C-F1DC05C10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393" y="1027246"/>
            <a:ext cx="7849406" cy="4306754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xmlns="" id="{CC0CF19C-127E-2CC5-4C9A-B459FCAEECE4}"/>
              </a:ext>
            </a:extLst>
          </p:cNvPr>
          <p:cNvSpPr txBox="1"/>
          <p:nvPr/>
        </p:nvSpPr>
        <p:spPr>
          <a:xfrm>
            <a:off x="6388100" y="730379"/>
            <a:ext cx="2937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Correto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xmlns="" id="{3F01F012-3467-B87D-6EA4-3139610878AB}"/>
              </a:ext>
            </a:extLst>
          </p:cNvPr>
          <p:cNvSpPr txBox="1"/>
          <p:nvPr/>
        </p:nvSpPr>
        <p:spPr>
          <a:xfrm>
            <a:off x="4308393" y="5334000"/>
            <a:ext cx="7756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As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lógicas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dos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descontos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estão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isoladas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podem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ser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alteradas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sem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impactas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nas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demais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classes.</a:t>
            </a:r>
            <a:endParaRPr lang="pt-BR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xmlns="" id="{C835FB14-5629-AC8C-0A2C-5F7422B65F00}"/>
              </a:ext>
            </a:extLst>
          </p:cNvPr>
          <p:cNvCxnSpPr/>
          <p:nvPr/>
        </p:nvCxnSpPr>
        <p:spPr>
          <a:xfrm>
            <a:off x="3822700" y="901700"/>
            <a:ext cx="0" cy="56007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71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S: </a:t>
            </a:r>
            <a:r>
              <a:rPr lang="en-US" dirty="0" err="1"/>
              <a:t>Responsabilidade</a:t>
            </a:r>
            <a:r>
              <a:rPr lang="en-US" dirty="0"/>
              <a:t> </a:t>
            </a:r>
            <a:r>
              <a:rPr lang="en-US" dirty="0" err="1"/>
              <a:t>única</a:t>
            </a:r>
            <a:endParaRPr dirty="0"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755779"/>
            <a:ext cx="10515600" cy="542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pt-BR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xmlns="" id="{6739F7D6-7C7A-3282-54C5-D48E87BE1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7" y="953372"/>
            <a:ext cx="4311397" cy="579143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FE2BA4D-20C6-F480-B312-43E6BBF93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874" y="953372"/>
            <a:ext cx="2743438" cy="189754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772ED64D-49EB-D309-8EFF-E35C9F01C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1874" y="2988429"/>
            <a:ext cx="2743438" cy="192802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xmlns="" id="{C7554116-B91F-4D49-12B1-7C2B2243CE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0143" y="953372"/>
            <a:ext cx="2961263" cy="396308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D9E10CCC-3BA4-9984-C4C7-37E59247166E}"/>
              </a:ext>
            </a:extLst>
          </p:cNvPr>
          <p:cNvSpPr txBox="1"/>
          <p:nvPr/>
        </p:nvSpPr>
        <p:spPr>
          <a:xfrm>
            <a:off x="152400" y="539879"/>
            <a:ext cx="2937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C00000"/>
                </a:solidFill>
              </a:rPr>
              <a:t>Errado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xmlns="" id="{79E03700-3E20-9557-B60F-E1AE9FDBFF16}"/>
              </a:ext>
            </a:extLst>
          </p:cNvPr>
          <p:cNvSpPr txBox="1"/>
          <p:nvPr/>
        </p:nvSpPr>
        <p:spPr>
          <a:xfrm>
            <a:off x="6388100" y="514479"/>
            <a:ext cx="2937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Correto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xmlns="" id="{A74AA97F-C9FA-C51A-F829-F9524EDB6B97}"/>
              </a:ext>
            </a:extLst>
          </p:cNvPr>
          <p:cNvCxnSpPr/>
          <p:nvPr/>
        </p:nvCxnSpPr>
        <p:spPr>
          <a:xfrm>
            <a:off x="5245100" y="901700"/>
            <a:ext cx="0" cy="56007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45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e54c91e33a_0_0"/>
          <p:cNvSpPr txBox="1">
            <a:spLocks noGrp="1"/>
          </p:cNvSpPr>
          <p:nvPr>
            <p:ph type="body" idx="1"/>
          </p:nvPr>
        </p:nvSpPr>
        <p:spPr>
          <a:xfrm>
            <a:off x="838200" y="1472800"/>
            <a:ext cx="10515600" cy="538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g1e54c91e33a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464</Words>
  <Application>Microsoft Office PowerPoint</Application>
  <PresentationFormat>Personalizar</PresentationFormat>
  <Paragraphs>61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Tema do Office</vt:lpstr>
      <vt:lpstr>Padrões de Projetos</vt:lpstr>
      <vt:lpstr>Procedimentos em sala</vt:lpstr>
      <vt:lpstr>Esquema geral de estudos</vt:lpstr>
      <vt:lpstr>Design Patterns – Padrões de Projeto</vt:lpstr>
      <vt:lpstr>Design Patterns – Padrões de Projeto</vt:lpstr>
      <vt:lpstr>S.O.L.I.D</vt:lpstr>
      <vt:lpstr>S: Responsabilidade única</vt:lpstr>
      <vt:lpstr>S: Responsabilidade única</vt:lpstr>
      <vt:lpstr>S: Responsabilidade única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Projetos</dc:title>
  <dc:creator>indt_hzjxjb3@outlook.com</dc:creator>
  <cp:lastModifiedBy>Convexa</cp:lastModifiedBy>
  <cp:revision>4</cp:revision>
  <dcterms:created xsi:type="dcterms:W3CDTF">2022-08-01T15:31:16Z</dcterms:created>
  <dcterms:modified xsi:type="dcterms:W3CDTF">2026-08-04T19:34:16Z</dcterms:modified>
</cp:coreProperties>
</file>