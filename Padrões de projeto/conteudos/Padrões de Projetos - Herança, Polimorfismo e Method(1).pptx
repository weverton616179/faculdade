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5" r:id="rId15"/>
    <p:sldId id="277" r:id="rId16"/>
    <p:sldId id="279" r:id="rId17"/>
    <p:sldId id="276" r:id="rId18"/>
    <p:sldId id="280" r:id="rId19"/>
    <p:sldId id="281" r:id="rId20"/>
    <p:sldId id="283" r:id="rId21"/>
    <p:sldId id="282" r:id="rId22"/>
    <p:sldId id="284" r:id="rId23"/>
    <p:sldId id="285" r:id="rId24"/>
    <p:sldId id="286" r:id="rId25"/>
    <p:sldId id="287" r:id="rId2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191" autoAdjust="0"/>
    <p:restoredTop sz="94660"/>
  </p:normalViewPr>
  <p:slideViewPr>
    <p:cSldViewPr snapToGrid="0">
      <p:cViewPr>
        <p:scale>
          <a:sx n="60" d="100"/>
          <a:sy n="60" d="100"/>
        </p:scale>
        <p:origin x="-846" y="-33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B9C02E6-3623-94DF-ADA1-2CE5C32F91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E6F29F64-6010-696C-EB93-7216F41C8D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74C82061-A86B-5A7E-B3D2-2F0B101F8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61DE9-98A3-45F0-AAF0-B697FA282544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E2C649F9-957F-732D-E6EE-7177357C1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AE07FD1C-C29B-7ACB-31C2-CD13EC629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2A34C-52C4-48D7-A071-7AE06A64FE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436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75D5558-0510-113B-3431-40277F3D1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BF372B53-ABAD-D55F-F926-F068333238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533E1837-8623-E630-C200-3CC42DA48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61DE9-98A3-45F0-AAF0-B697FA282544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2ADA6BB6-4006-AB47-743F-C2E754B7E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83B3FC28-449A-E5CF-4C60-AA109605C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2A34C-52C4-48D7-A071-7AE06A64FE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4598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FE44072F-F895-E878-9FBD-FED0A1794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xmlns="" id="{00E8693D-EE85-A747-BC1B-D272EEDC1C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2463CD7B-882A-5226-0837-92C3A24A0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61DE9-98A3-45F0-AAF0-B697FA282544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1280FBEC-803B-49D9-86B0-BEEE86E3F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80D6B449-9AA1-3308-A1C1-888F24A11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2A34C-52C4-48D7-A071-7AE06A64FE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7106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BA7A18C-1021-BBAA-9A55-E5687D53F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DFE9B281-C128-1924-DCDC-2E1F7574FF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A836CC2F-BA54-061C-DBF4-46C358A3C1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xmlns="" id="{1AF1601E-97F3-C695-2816-6D9B8A151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61DE9-98A3-45F0-AAF0-B697FA282544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xmlns="" id="{41ED914F-A318-BF22-2990-CC5A21F3D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xmlns="" id="{B2B5745E-F926-C80C-1816-373E5CFD6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2A34C-52C4-48D7-A071-7AE06A64FE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6580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3EFFA58-B767-7C6D-DF8F-2E9B7BB0C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xmlns="" id="{EE229FE3-CDDD-0A33-ACFD-A8F3410BE7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A1EC428C-7346-849A-3C86-B0EDE73DB8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xmlns="" id="{3FC921AD-90F3-0AF4-97C5-74BC66161A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xmlns="" id="{44E5438B-53C1-AB55-87D8-0DDB7E2B06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xmlns="" id="{7231ED0F-2283-D093-67B0-3318CA479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61DE9-98A3-45F0-AAF0-B697FA282544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xmlns="" id="{0941300C-D0CF-B771-8D8B-8123BC0CC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xmlns="" id="{FBC20D37-8F8C-EBB7-62AB-82786D229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2A34C-52C4-48D7-A071-7AE06A64FE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4373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F28DC9C-9348-CA40-6668-6EFCF4279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xmlns="" id="{1F7897C8-7BEF-6186-475B-DB65A86D5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61DE9-98A3-45F0-AAF0-B697FA282544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AAC61390-0EE5-A7E7-B90C-F1125E225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658301DB-408D-30F3-F905-C4DBEF483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2A34C-52C4-48D7-A071-7AE06A64FE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4514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xmlns="" id="{1819065B-8BDC-92A7-9060-4AA0A6309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61DE9-98A3-45F0-AAF0-B697FA282544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xmlns="" id="{EF08D531-484C-F59D-10B1-5481D2CBD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xmlns="" id="{D1A3599D-444B-E729-9283-86D27D20E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2A34C-52C4-48D7-A071-7AE06A64FE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7992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6AEAD98-2024-E2B8-E4BB-788C28A5E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4FE19254-3178-B0DD-0DA0-48D1F8695A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xmlns="" id="{AD39CCFF-C996-0C20-E2DF-C599F61A7C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xmlns="" id="{0D53D8DA-6FA5-5BC3-FF02-4A35488DE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61DE9-98A3-45F0-AAF0-B697FA282544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xmlns="" id="{012CD135-B92E-D950-18D1-511D3EE3E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xmlns="" id="{9D3BFF7E-706C-42F0-1182-1E28AA4DE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2A34C-52C4-48D7-A071-7AE06A64FE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5431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AD4629C-5235-D5CD-EC05-1E071DFE3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xmlns="" id="{FF55EC6A-D548-D869-92E2-0ED4472210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xmlns="" id="{4039C667-1D3D-8DA1-C414-BD2900708A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xmlns="" id="{265CB301-E1ED-D26D-2DA4-E67EFF6EE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61DE9-98A3-45F0-AAF0-B697FA282544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xmlns="" id="{0B08DB11-3697-3640-05D9-82E992CE7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xmlns="" id="{88D9B975-6F69-97D5-2F11-0B03E1CE2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2A34C-52C4-48D7-A071-7AE06A64FE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5968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7441EF6-1489-6C17-AE03-22F6B3121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xmlns="" id="{343CD420-7661-B313-8B9C-E5BD066796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A8E9B859-312C-A1BE-97D0-51E1CC5F8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61DE9-98A3-45F0-AAF0-B697FA282544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0FEF3612-99A3-66FB-2B04-1B412F423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FCD33D41-B118-CE7D-E8C4-F41DBA5CF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2A34C-52C4-48D7-A071-7AE06A64FE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327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xmlns="" id="{82583DFA-A911-107B-1832-9857C434E1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xmlns="" id="{991CEE88-FABE-66F0-49BB-D5FEF51E5E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48D1E457-0931-1E36-260D-C8E0070CF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61DE9-98A3-45F0-AAF0-B697FA282544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0E8159DB-C56F-3335-3623-C9C2CD813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DA96BEB1-D2EF-640A-982E-CE3AF3E90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2A34C-52C4-48D7-A071-7AE06A64FE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6147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xmlns="" id="{A529607A-6CD3-0F5A-13F2-82E1D1FA1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xmlns="" id="{B88AB682-76F0-0069-5E6B-68F8C2809A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BD663F2C-E541-3004-DD9F-7043366DE1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D61DE9-98A3-45F0-AAF0-B697FA282544}" type="datetimeFigureOut">
              <a:rPr lang="pt-BR" smtClean="0"/>
              <a:t>04/08/2026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76BE495A-1AD7-0F1B-47DC-8823CD9CE1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3534E892-ED9C-F09D-BE5C-C5B7D53B9A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32A34C-52C4-48D7-A071-7AE06A64FE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4422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Leandro.escobar@up.edu.br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994D9ACB-8018-89F2-5F46-5097E7115B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Padrões</a:t>
            </a:r>
            <a:r>
              <a:rPr lang="en-US" dirty="0"/>
              <a:t> de </a:t>
            </a:r>
            <a:r>
              <a:rPr lang="en-US" dirty="0" err="1"/>
              <a:t>Projetos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B141B7B9-A56A-B213-215D-0635EEF0EF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Prof Escobar</a:t>
            </a:r>
          </a:p>
          <a:p>
            <a:r>
              <a:rPr lang="en-US" dirty="0">
                <a:hlinkClick r:id="rId2"/>
              </a:rPr>
              <a:t>Leandro.escobar@up.edu.br</a:t>
            </a:r>
            <a:endParaRPr lang="en-US" dirty="0"/>
          </a:p>
          <a:p>
            <a:r>
              <a:rPr lang="en-US" dirty="0"/>
              <a:t>41 98423 5242 (</a:t>
            </a:r>
            <a:r>
              <a:rPr lang="en-US" dirty="0" err="1"/>
              <a:t>contato</a:t>
            </a:r>
            <a:r>
              <a:rPr lang="en-US" dirty="0"/>
              <a:t> </a:t>
            </a:r>
            <a:r>
              <a:rPr lang="en-US" dirty="0" err="1"/>
              <a:t>preferencial</a:t>
            </a:r>
            <a:r>
              <a:rPr lang="en-US" dirty="0"/>
              <a:t>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74238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FC993B83-8AD9-B33E-5852-4D85B8D51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3198"/>
            <a:ext cx="10515600" cy="642581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Herança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0A02C60C-762E-74B5-8F36-3E5057B88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55779"/>
            <a:ext cx="10515600" cy="5421184"/>
          </a:xfrm>
        </p:spPr>
        <p:txBody>
          <a:bodyPr>
            <a:normAutofit/>
          </a:bodyPr>
          <a:lstStyle/>
          <a:p>
            <a:r>
              <a:rPr lang="pt-BR" dirty="0" smtClean="0"/>
              <a:t>Técnica cuja finalidade é implementar métodos e propriedades comuns a diversas classes uma só vez;</a:t>
            </a:r>
          </a:p>
          <a:p>
            <a:r>
              <a:rPr lang="pt-BR" dirty="0" smtClean="0"/>
              <a:t>Evita-se a repetição de código igual</a:t>
            </a:r>
          </a:p>
          <a:p>
            <a:endParaRPr lang="pt-B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0" y="2716882"/>
            <a:ext cx="8250238" cy="2867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55910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3844" y="1374393"/>
            <a:ext cx="4733925" cy="2028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FC993B83-8AD9-B33E-5852-4D85B8D51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3198"/>
            <a:ext cx="10515600" cy="642581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Herança</a:t>
            </a:r>
            <a:r>
              <a:rPr lang="en-US" dirty="0" smtClean="0"/>
              <a:t> - </a:t>
            </a:r>
            <a:r>
              <a:rPr lang="en-US" dirty="0" err="1" smtClean="0"/>
              <a:t>implementação</a:t>
            </a:r>
            <a:endParaRPr lang="pt-BR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012" y="1335983"/>
            <a:ext cx="3791479" cy="2829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CaixaDeTexto 3"/>
          <p:cNvSpPr txBox="1"/>
          <p:nvPr/>
        </p:nvSpPr>
        <p:spPr>
          <a:xfrm>
            <a:off x="8940837" y="2704317"/>
            <a:ext cx="2863284" cy="430887"/>
          </a:xfrm>
          <a:prstGeom prst="rect">
            <a:avLst/>
          </a:prstGeom>
          <a:solidFill>
            <a:srgbClr val="FFFFCC"/>
          </a:solidFill>
        </p:spPr>
        <p:txBody>
          <a:bodyPr wrap="none" rtlCol="0">
            <a:spAutoFit/>
          </a:bodyPr>
          <a:lstStyle/>
          <a:p>
            <a:r>
              <a:rPr lang="pt-BR" sz="1100" b="1" i="1" dirty="0" smtClean="0">
                <a:solidFill>
                  <a:schemeClr val="accent2">
                    <a:lumMod val="75000"/>
                  </a:schemeClr>
                </a:solidFill>
              </a:rPr>
              <a:t>Anotação @</a:t>
            </a:r>
            <a:r>
              <a:rPr lang="pt-BR" sz="1100" b="1" i="1" dirty="0" err="1" smtClean="0">
                <a:solidFill>
                  <a:schemeClr val="accent2">
                    <a:lumMod val="75000"/>
                  </a:schemeClr>
                </a:solidFill>
              </a:rPr>
              <a:t>Override</a:t>
            </a:r>
            <a:endParaRPr lang="pt-BR" sz="1100" b="1" i="1" dirty="0" smtClean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pt-BR" sz="1100" i="1" dirty="0" smtClean="0">
                <a:solidFill>
                  <a:schemeClr val="accent2">
                    <a:lumMod val="75000"/>
                  </a:schemeClr>
                </a:solidFill>
              </a:rPr>
              <a:t>Para substituir a lógica de um método herdado</a:t>
            </a:r>
            <a:endParaRPr lang="pt-BR" sz="1100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6" name="Conector de seta reta 5"/>
          <p:cNvCxnSpPr>
            <a:stCxn id="4" idx="1"/>
          </p:cNvCxnSpPr>
          <p:nvPr/>
        </p:nvCxnSpPr>
        <p:spPr>
          <a:xfrm flipH="1" flipV="1">
            <a:off x="6731877" y="2704317"/>
            <a:ext cx="2208960" cy="215444"/>
          </a:xfrm>
          <a:prstGeom prst="straightConnector1">
            <a:avLst/>
          </a:prstGeom>
          <a:ln>
            <a:solidFill>
              <a:srgbClr val="C0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6382" y="4601232"/>
            <a:ext cx="3609975" cy="2038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CaixaDeTexto 8"/>
          <p:cNvSpPr txBox="1"/>
          <p:nvPr/>
        </p:nvSpPr>
        <p:spPr>
          <a:xfrm>
            <a:off x="4226382" y="4303986"/>
            <a:ext cx="675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i="1" dirty="0" smtClean="0"/>
              <a:t>Teste</a:t>
            </a:r>
            <a:endParaRPr lang="pt-BR" b="1" i="1" dirty="0"/>
          </a:p>
        </p:txBody>
      </p:sp>
      <p:sp>
        <p:nvSpPr>
          <p:cNvPr id="15" name="CaixaDeTexto 14"/>
          <p:cNvSpPr txBox="1"/>
          <p:nvPr/>
        </p:nvSpPr>
        <p:spPr>
          <a:xfrm>
            <a:off x="5743844" y="851337"/>
            <a:ext cx="2111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i="1" dirty="0" smtClean="0"/>
              <a:t>Classe especializada</a:t>
            </a:r>
            <a:endParaRPr lang="pt-BR" b="1" i="1" dirty="0"/>
          </a:p>
        </p:txBody>
      </p:sp>
      <p:sp>
        <p:nvSpPr>
          <p:cNvPr id="16" name="CaixaDeTexto 15"/>
          <p:cNvSpPr txBox="1"/>
          <p:nvPr/>
        </p:nvSpPr>
        <p:spPr>
          <a:xfrm>
            <a:off x="888065" y="851337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i="1" dirty="0" smtClean="0"/>
              <a:t>Classe base</a:t>
            </a:r>
            <a:endParaRPr lang="pt-BR" b="1" i="1" dirty="0"/>
          </a:p>
        </p:txBody>
      </p:sp>
    </p:spTree>
    <p:extLst>
      <p:ext uri="{BB962C8B-B14F-4D97-AF65-F5344CB8AC3E}">
        <p14:creationId xmlns:p14="http://schemas.microsoft.com/office/powerpoint/2010/main" val="2485528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FC993B83-8AD9-B33E-5852-4D85B8D51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3198"/>
            <a:ext cx="10515600" cy="642581"/>
          </a:xfrm>
        </p:spPr>
        <p:txBody>
          <a:bodyPr>
            <a:normAutofit fontScale="90000"/>
          </a:bodyPr>
          <a:lstStyle/>
          <a:p>
            <a:r>
              <a:rPr lang="en-US" smtClean="0"/>
              <a:t>Herança</a:t>
            </a:r>
            <a:r>
              <a:rPr lang="en-US" dirty="0" smtClean="0"/>
              <a:t> </a:t>
            </a:r>
            <a:r>
              <a:rPr lang="en-US" dirty="0" smtClean="0"/>
              <a:t>- </a:t>
            </a:r>
            <a:r>
              <a:rPr lang="en-US" dirty="0" err="1" smtClean="0"/>
              <a:t>implementação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733926"/>
            <a:ext cx="10515600" cy="5443037"/>
          </a:xfrm>
        </p:spPr>
        <p:txBody>
          <a:bodyPr/>
          <a:lstStyle/>
          <a:p>
            <a:r>
              <a:rPr lang="pt-BR" sz="1600" dirty="0" smtClean="0"/>
              <a:t>Consumir </a:t>
            </a:r>
            <a:r>
              <a:rPr lang="pt-BR" sz="1600" dirty="0"/>
              <a:t>o comportamento de um método ou atributo da classe mãe</a:t>
            </a:r>
          </a:p>
          <a:p>
            <a:pPr lvl="1"/>
            <a:r>
              <a:rPr lang="pt-BR" sz="1200" dirty="0" smtClean="0"/>
              <a:t>Exemplo</a:t>
            </a:r>
            <a:r>
              <a:rPr lang="pt-BR" sz="1200" dirty="0"/>
              <a:t>: O gerente recebe uma bonificação adicional somada à bonificação padrão (da classe funcionário)</a:t>
            </a:r>
          </a:p>
          <a:p>
            <a:pPr lvl="1"/>
            <a:r>
              <a:rPr lang="pt-BR" sz="1200" dirty="0" smtClean="0"/>
              <a:t>Neste </a:t>
            </a:r>
            <a:r>
              <a:rPr lang="pt-BR" sz="1200" dirty="0"/>
              <a:t>caso, as mudanças no método base serão refletidas no método especializado</a:t>
            </a:r>
          </a:p>
          <a:p>
            <a:endParaRPr lang="pt-BR" dirty="0"/>
          </a:p>
          <a:p>
            <a:pPr lvl="1"/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8774913" y="3280271"/>
            <a:ext cx="2827540" cy="600164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pt-BR" sz="1100" b="1" i="1" dirty="0" err="1" smtClean="0">
                <a:solidFill>
                  <a:schemeClr val="accent2">
                    <a:lumMod val="75000"/>
                  </a:schemeClr>
                </a:solidFill>
              </a:rPr>
              <a:t>super</a:t>
            </a:r>
            <a:endParaRPr lang="pt-BR" sz="1100" b="1" i="1" dirty="0" smtClean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pt-BR" sz="1100" i="1" dirty="0" smtClean="0">
                <a:solidFill>
                  <a:schemeClr val="accent2">
                    <a:lumMod val="75000"/>
                  </a:schemeClr>
                </a:solidFill>
              </a:rPr>
              <a:t>Para consumir atributos ou métodos conforme implementados na classe base</a:t>
            </a:r>
            <a:endParaRPr lang="pt-BR" sz="1100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2" name="CaixaDeTexto 11"/>
          <p:cNvSpPr txBox="1"/>
          <p:nvPr/>
        </p:nvSpPr>
        <p:spPr>
          <a:xfrm>
            <a:off x="1520825" y="1597581"/>
            <a:ext cx="2111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i="1" dirty="0" smtClean="0"/>
              <a:t>Classe especializada</a:t>
            </a:r>
            <a:endParaRPr lang="pt-BR" b="1" i="1" dirty="0"/>
          </a:p>
        </p:txBody>
      </p:sp>
      <p:sp>
        <p:nvSpPr>
          <p:cNvPr id="13" name="CaixaDeTexto 12"/>
          <p:cNvSpPr txBox="1"/>
          <p:nvPr/>
        </p:nvSpPr>
        <p:spPr>
          <a:xfrm>
            <a:off x="1520824" y="4246182"/>
            <a:ext cx="675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i="1" dirty="0" smtClean="0"/>
              <a:t>Teste</a:t>
            </a:r>
            <a:endParaRPr lang="pt-BR" b="1" i="1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0825" y="2063952"/>
            <a:ext cx="4619625" cy="185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Conector de seta reta 5"/>
          <p:cNvCxnSpPr>
            <a:stCxn id="4" idx="1"/>
          </p:cNvCxnSpPr>
          <p:nvPr/>
        </p:nvCxnSpPr>
        <p:spPr>
          <a:xfrm flipH="1">
            <a:off x="4888833" y="3580353"/>
            <a:ext cx="3886080" cy="0"/>
          </a:xfrm>
          <a:prstGeom prst="straightConnector1">
            <a:avLst/>
          </a:prstGeom>
          <a:ln>
            <a:solidFill>
              <a:srgbClr val="C0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/>
          <p:cNvSpPr txBox="1"/>
          <p:nvPr/>
        </p:nvSpPr>
        <p:spPr>
          <a:xfrm>
            <a:off x="8774913" y="5923626"/>
            <a:ext cx="2827540" cy="430887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pt-BR" sz="1100" b="1" i="1" dirty="0" smtClean="0">
                <a:solidFill>
                  <a:schemeClr val="accent2">
                    <a:lumMod val="75000"/>
                  </a:schemeClr>
                </a:solidFill>
              </a:rPr>
              <a:t>Se  o método base mudar, sua lógica será aplicada às classes que o herdarem</a:t>
            </a:r>
            <a:endParaRPr lang="pt-BR" sz="1100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0824" y="4615514"/>
            <a:ext cx="3914775" cy="1866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7" name="Conector de seta reta 16"/>
          <p:cNvCxnSpPr>
            <a:stCxn id="16" idx="1"/>
          </p:cNvCxnSpPr>
          <p:nvPr/>
        </p:nvCxnSpPr>
        <p:spPr>
          <a:xfrm flipH="1">
            <a:off x="5435599" y="6139070"/>
            <a:ext cx="3339314" cy="0"/>
          </a:xfrm>
          <a:prstGeom prst="straightConnector1">
            <a:avLst/>
          </a:prstGeom>
          <a:ln>
            <a:solidFill>
              <a:srgbClr val="C0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1576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733926"/>
            <a:ext cx="10515600" cy="5443037"/>
          </a:xfrm>
        </p:spPr>
        <p:txBody>
          <a:bodyPr/>
          <a:lstStyle/>
          <a:p>
            <a:r>
              <a:rPr lang="pt-BR" dirty="0" smtClean="0"/>
              <a:t>Garantir a execução de diferentes referências de objetos</a:t>
            </a:r>
          </a:p>
          <a:p>
            <a:r>
              <a:rPr lang="pt-BR" dirty="0" smtClean="0"/>
              <a:t>Por exemplo, em uma cancela de pedágio são aceitos veículos. Assim, se a motocicleta for subclasse de veículo, será aceita no pedágio.</a:t>
            </a:r>
          </a:p>
          <a:p>
            <a:endParaRPr lang="pt-BR" dirty="0"/>
          </a:p>
          <a:p>
            <a:r>
              <a:rPr lang="pt-BR" dirty="0" smtClean="0"/>
              <a:t>Implementando:</a:t>
            </a:r>
          </a:p>
          <a:p>
            <a:pPr lvl="1"/>
            <a:r>
              <a:rPr lang="pt-BR" dirty="0" smtClean="0"/>
              <a:t>Criar uma classe Financeiro que recebe vários funcionários e retorno o total de bonificações</a:t>
            </a:r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FC993B83-8AD9-B33E-5852-4D85B8D51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3198"/>
            <a:ext cx="10515600" cy="642581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Polimorfismo</a:t>
            </a:r>
            <a:endParaRPr lang="pt-BR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2634" y="3710410"/>
            <a:ext cx="3286343" cy="29815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48956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FC993B83-8AD9-B33E-5852-4D85B8D51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3198"/>
            <a:ext cx="10515600" cy="642581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Polimorfismo</a:t>
            </a:r>
            <a:r>
              <a:rPr lang="en-US" dirty="0" smtClean="0"/>
              <a:t>  - </a:t>
            </a:r>
            <a:r>
              <a:rPr lang="en-US" dirty="0" err="1" smtClean="0"/>
              <a:t>implementação</a:t>
            </a:r>
            <a:endParaRPr lang="pt-BR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043" y="959166"/>
            <a:ext cx="4303220" cy="33042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CaixaDeTexto 7"/>
          <p:cNvSpPr txBox="1"/>
          <p:nvPr/>
        </p:nvSpPr>
        <p:spPr>
          <a:xfrm>
            <a:off x="8948334" y="1561828"/>
            <a:ext cx="2827540" cy="769441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pt-BR" sz="1100" b="1" i="1" dirty="0" smtClean="0">
                <a:solidFill>
                  <a:schemeClr val="accent2">
                    <a:lumMod val="75000"/>
                  </a:schemeClr>
                </a:solidFill>
              </a:rPr>
              <a:t>Recebe a classe base como parâmetro</a:t>
            </a:r>
          </a:p>
          <a:p>
            <a:r>
              <a:rPr lang="pt-BR" sz="1100" i="1" dirty="0" smtClean="0">
                <a:solidFill>
                  <a:schemeClr val="accent2">
                    <a:lumMod val="75000"/>
                  </a:schemeClr>
                </a:solidFill>
              </a:rPr>
              <a:t>Permite que as subclasses sejam processadas, desde que as assinaturas das classes sejam iguais.</a:t>
            </a:r>
            <a:endParaRPr lang="pt-BR" sz="1100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9" name="Conector de seta reta 8"/>
          <p:cNvCxnSpPr>
            <a:stCxn id="8" idx="1"/>
          </p:cNvCxnSpPr>
          <p:nvPr/>
        </p:nvCxnSpPr>
        <p:spPr>
          <a:xfrm flipH="1" flipV="1">
            <a:off x="5062254" y="1861910"/>
            <a:ext cx="3886080" cy="84639"/>
          </a:xfrm>
          <a:prstGeom prst="straightConnector1">
            <a:avLst/>
          </a:prstGeom>
          <a:ln>
            <a:solidFill>
              <a:srgbClr val="C0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3409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FC993B83-8AD9-B33E-5852-4D85B8D51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3198"/>
            <a:ext cx="10515600" cy="642581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Polimorfismo</a:t>
            </a:r>
            <a:r>
              <a:rPr lang="en-US" dirty="0" smtClean="0"/>
              <a:t>  - </a:t>
            </a:r>
            <a:r>
              <a:rPr lang="en-US" dirty="0" err="1" smtClean="0"/>
              <a:t>implementação</a:t>
            </a:r>
            <a:endParaRPr lang="pt-BR" dirty="0"/>
          </a:p>
        </p:txBody>
      </p:sp>
      <p:sp>
        <p:nvSpPr>
          <p:cNvPr id="8" name="CaixaDeTexto 7"/>
          <p:cNvSpPr txBox="1"/>
          <p:nvPr/>
        </p:nvSpPr>
        <p:spPr>
          <a:xfrm>
            <a:off x="8837975" y="3399003"/>
            <a:ext cx="2827540" cy="430887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pt-BR" sz="1100" b="1" i="1" dirty="0" smtClean="0">
                <a:solidFill>
                  <a:schemeClr val="accent2">
                    <a:lumMod val="75000"/>
                  </a:schemeClr>
                </a:solidFill>
              </a:rPr>
              <a:t>A forma do </a:t>
            </a:r>
            <a:r>
              <a:rPr lang="pt-BR" sz="1100" b="1" i="1" dirty="0" err="1" smtClean="0">
                <a:solidFill>
                  <a:schemeClr val="accent2">
                    <a:lumMod val="75000"/>
                  </a:schemeClr>
                </a:solidFill>
              </a:rPr>
              <a:t>cáculo</a:t>
            </a:r>
            <a:r>
              <a:rPr lang="pt-BR" sz="1100" b="1" i="1" dirty="0" smtClean="0">
                <a:solidFill>
                  <a:schemeClr val="accent2">
                    <a:lumMod val="75000"/>
                  </a:schemeClr>
                </a:solidFill>
              </a:rPr>
              <a:t> do bônus é diferente em cada objeto, por causa de sua especialização.</a:t>
            </a:r>
            <a:endParaRPr lang="pt-BR" sz="1100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92" y="1561828"/>
            <a:ext cx="6307138" cy="3267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9" name="Conector de seta reta 8"/>
          <p:cNvCxnSpPr>
            <a:stCxn id="8" idx="1"/>
          </p:cNvCxnSpPr>
          <p:nvPr/>
        </p:nvCxnSpPr>
        <p:spPr>
          <a:xfrm flipH="1">
            <a:off x="3909849" y="3614447"/>
            <a:ext cx="4928126" cy="169277"/>
          </a:xfrm>
          <a:prstGeom prst="straightConnector1">
            <a:avLst/>
          </a:prstGeom>
          <a:ln>
            <a:solidFill>
              <a:srgbClr val="C0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/>
          <p:cNvCxnSpPr>
            <a:stCxn id="8" idx="1"/>
          </p:cNvCxnSpPr>
          <p:nvPr/>
        </p:nvCxnSpPr>
        <p:spPr>
          <a:xfrm flipH="1">
            <a:off x="3909849" y="3614447"/>
            <a:ext cx="4928126" cy="752601"/>
          </a:xfrm>
          <a:prstGeom prst="straightConnector1">
            <a:avLst/>
          </a:prstGeom>
          <a:ln>
            <a:solidFill>
              <a:srgbClr val="C0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831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FC993B83-8AD9-B33E-5852-4D85B8D51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3198"/>
            <a:ext cx="10515600" cy="642581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Atividade</a:t>
            </a:r>
            <a:endParaRPr lang="pt-BR" dirty="0"/>
          </a:p>
        </p:txBody>
      </p:sp>
      <p:sp>
        <p:nvSpPr>
          <p:cNvPr id="3" name="CaixaDeTexto 2"/>
          <p:cNvSpPr txBox="1"/>
          <p:nvPr/>
        </p:nvSpPr>
        <p:spPr>
          <a:xfrm>
            <a:off x="898634" y="1024758"/>
            <a:ext cx="9963807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pt-BR" dirty="0" smtClean="0"/>
              <a:t>A partir das classes do exemplo acima, implemente a classe diretor, cuja bonificação é (1,5% do salário) multiplicado pelo número de funcionários sob sua gestão</a:t>
            </a:r>
          </a:p>
          <a:p>
            <a:pPr marL="342900" indent="-342900">
              <a:buAutoNum type="arabicPeriod"/>
            </a:pPr>
            <a:endParaRPr lang="pt-BR" dirty="0"/>
          </a:p>
          <a:p>
            <a:pPr marL="342900" indent="-342900">
              <a:buAutoNum type="arabicPeriod"/>
            </a:pPr>
            <a:r>
              <a:rPr lang="pt-BR" dirty="0" smtClean="0"/>
              <a:t>Desenhe e implemente:</a:t>
            </a:r>
          </a:p>
          <a:p>
            <a:pPr marL="800100" lvl="1" indent="-342900">
              <a:buFont typeface="+mj-lt"/>
              <a:buAutoNum type="alphaLcParenR"/>
            </a:pPr>
            <a:r>
              <a:rPr lang="pt-BR" dirty="0" smtClean="0"/>
              <a:t>O sistema de remessas da indústria Coisas &amp; Coisas possui um método que recebe vários e diferentes produtos e retorna a estimativa de custos de transporte  de acordo com o que foi recebido</a:t>
            </a:r>
          </a:p>
          <a:p>
            <a:pPr marL="800100" lvl="1" indent="-342900">
              <a:buFont typeface="+mj-lt"/>
              <a:buAutoNum type="alphaLcParenR"/>
            </a:pPr>
            <a:r>
              <a:rPr lang="pt-BR" dirty="0" smtClean="0"/>
              <a:t>Todos os produtos tem atributos peso (massa do produto embalado em gramas),  volume  da embalagem (em cm3) e um preço de comercialização</a:t>
            </a:r>
          </a:p>
          <a:p>
            <a:pPr marL="800100" lvl="1" indent="-342900">
              <a:buFont typeface="+mj-lt"/>
              <a:buAutoNum type="alphaLcParenR"/>
            </a:pPr>
            <a:r>
              <a:rPr lang="pt-BR" dirty="0" smtClean="0"/>
              <a:t>Todos os produtos tem um método que calcula frete  com base em:</a:t>
            </a:r>
          </a:p>
          <a:p>
            <a:pPr marL="1257300" lvl="2" indent="-342900">
              <a:buFont typeface="+mj-lt"/>
              <a:buAutoNum type="alphaLcParenR"/>
            </a:pPr>
            <a:r>
              <a:rPr lang="pt-BR" dirty="0" smtClean="0"/>
              <a:t>R$ 0,80 por quilo de massa</a:t>
            </a:r>
          </a:p>
          <a:p>
            <a:pPr marL="1257300" lvl="2" indent="-342900">
              <a:buFont typeface="+mj-lt"/>
              <a:buAutoNum type="alphaLcParenR"/>
            </a:pPr>
            <a:r>
              <a:rPr lang="pt-BR" dirty="0" smtClean="0"/>
              <a:t>R$ 1,00 por metro cúbico de volume</a:t>
            </a:r>
          </a:p>
          <a:p>
            <a:pPr marL="800100" lvl="1" indent="-342900">
              <a:buFont typeface="+mj-lt"/>
              <a:buAutoNum type="alphaLcParenR"/>
            </a:pPr>
            <a:r>
              <a:rPr lang="pt-BR" dirty="0" smtClean="0"/>
              <a:t>Produtos atuais:</a:t>
            </a:r>
          </a:p>
          <a:p>
            <a:pPr marL="1257300" lvl="2" indent="-342900">
              <a:buFont typeface="+mj-lt"/>
              <a:buAutoNum type="alphaLcParenR"/>
            </a:pPr>
            <a:r>
              <a:rPr lang="pt-BR" dirty="0" err="1" smtClean="0"/>
              <a:t>MiniPC</a:t>
            </a:r>
            <a:r>
              <a:rPr lang="pt-BR" dirty="0" smtClean="0"/>
              <a:t> {peso: 500, volume: 200,preço: 5000}</a:t>
            </a:r>
          </a:p>
          <a:p>
            <a:pPr marL="1257300" lvl="2" indent="-342900">
              <a:buFont typeface="+mj-lt"/>
              <a:buAutoNum type="alphaLcParenR"/>
            </a:pPr>
            <a:r>
              <a:rPr lang="pt-BR" dirty="0" err="1" smtClean="0"/>
              <a:t>SoundBar</a:t>
            </a:r>
            <a:r>
              <a:rPr lang="pt-BR" dirty="0" smtClean="0"/>
              <a:t>{peso:670,volume: 8000</a:t>
            </a:r>
            <a:r>
              <a:rPr lang="pt-BR" dirty="0"/>
              <a:t>,preço: </a:t>
            </a:r>
            <a:r>
              <a:rPr lang="pt-BR" dirty="0" smtClean="0"/>
              <a:t>1800}</a:t>
            </a:r>
          </a:p>
          <a:p>
            <a:pPr marL="1257300" lvl="2" indent="-342900">
              <a:buFont typeface="+mj-lt"/>
              <a:buAutoNum type="alphaLcParenR"/>
            </a:pPr>
            <a:r>
              <a:rPr lang="pt-BR" dirty="0" err="1" smtClean="0"/>
              <a:t>SuperServidor</a:t>
            </a:r>
            <a:r>
              <a:rPr lang="pt-BR" dirty="0" smtClean="0"/>
              <a:t>{peso:3800,volume:120000</a:t>
            </a:r>
            <a:r>
              <a:rPr lang="pt-BR" dirty="0"/>
              <a:t>,preço: </a:t>
            </a:r>
            <a:r>
              <a:rPr lang="pt-BR" dirty="0" smtClean="0"/>
              <a:t>30000} Para este produto, o frete inclui uma  taxa de seguro equivalente a 30% do seu preço</a:t>
            </a:r>
          </a:p>
          <a:p>
            <a:pPr marL="800100" lvl="1" indent="-342900">
              <a:buFont typeface="+mj-lt"/>
              <a:buAutoNum type="alphaLcParenR"/>
            </a:pPr>
            <a:r>
              <a:rPr lang="pt-BR" dirty="0" smtClean="0"/>
              <a:t>Implemente com o máximo de reaproveitamento de código</a:t>
            </a:r>
          </a:p>
          <a:p>
            <a:pPr marL="800100" lvl="1" indent="-342900">
              <a:buFont typeface="+mj-lt"/>
              <a:buAutoNum type="alphaLcParenR"/>
            </a:pP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1283535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0642" y="2513943"/>
            <a:ext cx="3267075" cy="154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FC993B83-8AD9-B33E-5852-4D85B8D51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3198"/>
            <a:ext cx="10515600" cy="64258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Classes </a:t>
            </a:r>
            <a:r>
              <a:rPr lang="en-US" dirty="0" err="1" smtClean="0"/>
              <a:t>abstratas</a:t>
            </a:r>
            <a:endParaRPr lang="pt-BR" dirty="0"/>
          </a:p>
        </p:txBody>
      </p:sp>
      <p:sp>
        <p:nvSpPr>
          <p:cNvPr id="3" name="CaixaDeTexto 2"/>
          <p:cNvSpPr txBox="1"/>
          <p:nvPr/>
        </p:nvSpPr>
        <p:spPr>
          <a:xfrm>
            <a:off x="898634" y="1024758"/>
            <a:ext cx="99638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Dependendo do grau de abstração da classe </a:t>
            </a:r>
            <a:r>
              <a:rPr lang="pt-BR" i="1" dirty="0" err="1" smtClean="0"/>
              <a:t>funcionario</a:t>
            </a:r>
            <a:r>
              <a:rPr lang="pt-BR" dirty="0" smtClean="0"/>
              <a:t>, pode ser necessário </a:t>
            </a:r>
            <a:r>
              <a:rPr lang="pt-BR" b="1" u="sng" dirty="0" smtClean="0"/>
              <a:t>evitar  a instanciação</a:t>
            </a:r>
            <a:r>
              <a:rPr lang="pt-BR" dirty="0" smtClean="0"/>
              <a:t> de um objeto a partir da classe </a:t>
            </a:r>
            <a:r>
              <a:rPr lang="pt-BR" i="1" dirty="0" err="1" smtClean="0"/>
              <a:t>funcionario</a:t>
            </a:r>
            <a:r>
              <a:rPr lang="pt-BR" dirty="0" smtClean="0"/>
              <a:t>.</a:t>
            </a:r>
          </a:p>
          <a:p>
            <a:endParaRPr lang="pt-BR" dirty="0"/>
          </a:p>
          <a:p>
            <a:endParaRPr lang="pt-BR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634" y="2513943"/>
            <a:ext cx="4619297" cy="357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aixaDeTexto 4"/>
          <p:cNvSpPr txBox="1"/>
          <p:nvPr/>
        </p:nvSpPr>
        <p:spPr>
          <a:xfrm>
            <a:off x="7596347" y="1794199"/>
            <a:ext cx="2827540" cy="430887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pt-BR" sz="1100" b="1" i="1" dirty="0" smtClean="0">
                <a:solidFill>
                  <a:schemeClr val="accent2">
                    <a:lumMod val="75000"/>
                  </a:schemeClr>
                </a:solidFill>
              </a:rPr>
              <a:t>Objetos não podem ser instanciados a partir de classes abstratas</a:t>
            </a:r>
            <a:endParaRPr lang="pt-BR" sz="1100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6" name="Conector reto 5"/>
          <p:cNvCxnSpPr/>
          <p:nvPr/>
        </p:nvCxnSpPr>
        <p:spPr>
          <a:xfrm>
            <a:off x="5998442" y="2513943"/>
            <a:ext cx="0" cy="35157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upo 27"/>
          <p:cNvGrpSpPr/>
          <p:nvPr/>
        </p:nvGrpSpPr>
        <p:grpSpPr>
          <a:xfrm>
            <a:off x="10152993" y="2009642"/>
            <a:ext cx="709448" cy="1017337"/>
            <a:chOff x="10152993" y="2009642"/>
            <a:chExt cx="709448" cy="1017337"/>
          </a:xfrm>
        </p:grpSpPr>
        <p:cxnSp>
          <p:nvCxnSpPr>
            <p:cNvPr id="22" name="Conector de seta reta 21"/>
            <p:cNvCxnSpPr/>
            <p:nvPr/>
          </p:nvCxnSpPr>
          <p:spPr>
            <a:xfrm flipH="1">
              <a:off x="10152993" y="3026979"/>
              <a:ext cx="709448" cy="0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reto 24"/>
            <p:cNvCxnSpPr/>
            <p:nvPr/>
          </p:nvCxnSpPr>
          <p:spPr>
            <a:xfrm flipV="1">
              <a:off x="10862441" y="2009642"/>
              <a:ext cx="0" cy="1017337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reto 26"/>
            <p:cNvCxnSpPr/>
            <p:nvPr/>
          </p:nvCxnSpPr>
          <p:spPr>
            <a:xfrm flipH="1">
              <a:off x="10423887" y="2009642"/>
              <a:ext cx="438554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5" name="Grupo 1024"/>
          <p:cNvGrpSpPr/>
          <p:nvPr/>
        </p:nvGrpSpPr>
        <p:grpSpPr>
          <a:xfrm>
            <a:off x="2096814" y="2009642"/>
            <a:ext cx="5499533" cy="508668"/>
            <a:chOff x="2096814" y="2009642"/>
            <a:chExt cx="5499533" cy="508668"/>
          </a:xfrm>
        </p:grpSpPr>
        <p:cxnSp>
          <p:nvCxnSpPr>
            <p:cNvPr id="30" name="Conector reto 29"/>
            <p:cNvCxnSpPr>
              <a:stCxn id="5" idx="1"/>
            </p:cNvCxnSpPr>
            <p:nvPr/>
          </p:nvCxnSpPr>
          <p:spPr>
            <a:xfrm flipH="1" flipV="1">
              <a:off x="2096814" y="2009642"/>
              <a:ext cx="5499533" cy="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4" name="Conector de seta reta 1023"/>
            <p:cNvCxnSpPr/>
            <p:nvPr/>
          </p:nvCxnSpPr>
          <p:spPr>
            <a:xfrm>
              <a:off x="2096814" y="2009642"/>
              <a:ext cx="0" cy="508668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29" name="CaixaDeTexto 1028"/>
          <p:cNvSpPr txBox="1"/>
          <p:nvPr/>
        </p:nvSpPr>
        <p:spPr>
          <a:xfrm>
            <a:off x="6195848" y="4301309"/>
            <a:ext cx="5659821" cy="1569660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100" b="1" i="1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pt-BR" sz="2400" dirty="0"/>
              <a:t>As classes abstratas servem para criar uma interface que permita o uso </a:t>
            </a:r>
            <a:r>
              <a:rPr lang="pt-BR" sz="2400" dirty="0" err="1"/>
              <a:t>polimorfico</a:t>
            </a:r>
            <a:r>
              <a:rPr lang="pt-BR" sz="2400" dirty="0"/>
              <a:t>.</a:t>
            </a:r>
          </a:p>
          <a:p>
            <a:r>
              <a:rPr lang="pt-BR" sz="2400" dirty="0"/>
              <a:t>Assim, pode-se manter a estratégia Aberta a Extensão do SOLID.</a:t>
            </a:r>
          </a:p>
        </p:txBody>
      </p:sp>
    </p:spTree>
    <p:extLst>
      <p:ext uri="{BB962C8B-B14F-4D97-AF65-F5344CB8AC3E}">
        <p14:creationId xmlns:p14="http://schemas.microsoft.com/office/powerpoint/2010/main" val="486143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FC993B83-8AD9-B33E-5852-4D85B8D51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3198"/>
            <a:ext cx="10515600" cy="642581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Métodos</a:t>
            </a:r>
            <a:r>
              <a:rPr lang="en-US" dirty="0" smtClean="0"/>
              <a:t> </a:t>
            </a:r>
            <a:r>
              <a:rPr lang="en-US" dirty="0" err="1" smtClean="0"/>
              <a:t>abstratos</a:t>
            </a:r>
            <a:endParaRPr lang="pt-BR" dirty="0"/>
          </a:p>
        </p:txBody>
      </p:sp>
      <p:sp>
        <p:nvSpPr>
          <p:cNvPr id="3" name="CaixaDeTexto 2"/>
          <p:cNvSpPr txBox="1"/>
          <p:nvPr/>
        </p:nvSpPr>
        <p:spPr>
          <a:xfrm>
            <a:off x="898634" y="756736"/>
            <a:ext cx="1129336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/>
              <a:t>Considerando o cenário da classe base </a:t>
            </a:r>
            <a:r>
              <a:rPr lang="pt-BR" sz="1400" b="1" i="1" dirty="0" err="1" smtClean="0"/>
              <a:t>funcionario</a:t>
            </a:r>
            <a:r>
              <a:rPr lang="pt-BR" sz="1400" dirty="0" smtClean="0"/>
              <a:t>, não parece lógico implementar o método  </a:t>
            </a:r>
            <a:r>
              <a:rPr lang="pt-BR" sz="1400" b="1" i="1" dirty="0" err="1" smtClean="0"/>
              <a:t>getBonificacao</a:t>
            </a:r>
            <a:r>
              <a:rPr lang="pt-BR" sz="1400" b="1" i="1" dirty="0" smtClean="0"/>
              <a:t>()</a:t>
            </a:r>
            <a:r>
              <a:rPr lang="pt-BR" sz="1400" dirty="0" smtClean="0"/>
              <a:t>, uma vez que cada diferente sub classe tem sua implementação particular.</a:t>
            </a:r>
          </a:p>
          <a:p>
            <a:r>
              <a:rPr lang="pt-BR" sz="1400" dirty="0" smtClean="0"/>
              <a:t>No entanto, retirar o método da classe base, reduz sua assinatura e impede o funcionamento do método </a:t>
            </a:r>
            <a:r>
              <a:rPr lang="pt-BR" sz="1400" b="1" i="1" dirty="0" err="1" smtClean="0"/>
              <a:t>registraFuncionario</a:t>
            </a:r>
            <a:r>
              <a:rPr lang="pt-BR" sz="1400" b="1" i="1" dirty="0" smtClean="0"/>
              <a:t>()</a:t>
            </a:r>
            <a:r>
              <a:rPr lang="pt-BR" sz="1400" dirty="0" smtClean="0"/>
              <a:t> da classe </a:t>
            </a:r>
            <a:r>
              <a:rPr lang="pt-BR" sz="1400" b="1" i="1" dirty="0" smtClean="0"/>
              <a:t>financeiro</a:t>
            </a:r>
            <a:r>
              <a:rPr lang="pt-BR" sz="1400" dirty="0" smtClean="0"/>
              <a:t>.</a:t>
            </a:r>
          </a:p>
          <a:p>
            <a:endParaRPr lang="pt-BR" sz="1400" dirty="0"/>
          </a:p>
          <a:p>
            <a:r>
              <a:rPr lang="pt-BR" sz="1400" b="1" dirty="0" smtClean="0"/>
              <a:t>Solução: </a:t>
            </a:r>
          </a:p>
          <a:p>
            <a:pPr marL="342900" indent="-342900">
              <a:buAutoNum type="alphaLcPeriod"/>
            </a:pPr>
            <a:r>
              <a:rPr lang="pt-BR" sz="1400" dirty="0" smtClean="0"/>
              <a:t>manter o método na classe </a:t>
            </a:r>
            <a:r>
              <a:rPr lang="pt-BR" sz="1400" dirty="0" err="1" smtClean="0"/>
              <a:t>abstrada</a:t>
            </a:r>
            <a:r>
              <a:rPr lang="pt-BR" sz="1400" dirty="0" smtClean="0"/>
              <a:t>, sem implementação</a:t>
            </a:r>
          </a:p>
          <a:p>
            <a:pPr marL="342900" indent="-342900">
              <a:buAutoNum type="alphaLcPeriod"/>
            </a:pPr>
            <a:r>
              <a:rPr lang="pt-BR" sz="1400" dirty="0" err="1" smtClean="0"/>
              <a:t>Sobreescrever</a:t>
            </a:r>
            <a:r>
              <a:rPr lang="pt-BR" sz="1400" dirty="0" smtClean="0"/>
              <a:t> o método de acordo com a lógica particular de cada classe especializada</a:t>
            </a:r>
          </a:p>
        </p:txBody>
      </p:sp>
      <p:cxnSp>
        <p:nvCxnSpPr>
          <p:cNvPr id="6" name="Conector reto 5"/>
          <p:cNvCxnSpPr/>
          <p:nvPr/>
        </p:nvCxnSpPr>
        <p:spPr>
          <a:xfrm>
            <a:off x="5998442" y="2435113"/>
            <a:ext cx="0" cy="35157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634" y="2408923"/>
            <a:ext cx="5099808" cy="3614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4602" y="2399135"/>
            <a:ext cx="3825885" cy="12111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4602" y="3815896"/>
            <a:ext cx="5112526" cy="1418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" name="CaixaDeTexto 19"/>
          <p:cNvSpPr txBox="1"/>
          <p:nvPr/>
        </p:nvSpPr>
        <p:spPr>
          <a:xfrm>
            <a:off x="8549588" y="5537850"/>
            <a:ext cx="2827540" cy="430887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pt-BR" sz="1100" b="1" i="1" dirty="0" smtClean="0">
                <a:solidFill>
                  <a:schemeClr val="accent2">
                    <a:lumMod val="75000"/>
                  </a:schemeClr>
                </a:solidFill>
              </a:rPr>
              <a:t>O método </a:t>
            </a:r>
            <a:r>
              <a:rPr lang="pt-BR" sz="1100" b="1" i="1" dirty="0" err="1" smtClean="0">
                <a:solidFill>
                  <a:schemeClr val="accent2">
                    <a:lumMod val="75000"/>
                  </a:schemeClr>
                </a:solidFill>
              </a:rPr>
              <a:t>getBonificacao</a:t>
            </a:r>
            <a:r>
              <a:rPr lang="pt-BR" sz="1100" b="1" i="1" dirty="0" smtClean="0">
                <a:solidFill>
                  <a:schemeClr val="accent2">
                    <a:lumMod val="75000"/>
                  </a:schemeClr>
                </a:solidFill>
              </a:rPr>
              <a:t>() deve ser </a:t>
            </a:r>
            <a:r>
              <a:rPr lang="pt-BR" sz="1100" b="1" i="1" dirty="0" err="1" smtClean="0">
                <a:solidFill>
                  <a:schemeClr val="accent2">
                    <a:lumMod val="75000"/>
                  </a:schemeClr>
                </a:solidFill>
              </a:rPr>
              <a:t>sobreescrito</a:t>
            </a:r>
            <a:r>
              <a:rPr lang="pt-BR" sz="1100" b="1" i="1" dirty="0" smtClean="0">
                <a:solidFill>
                  <a:schemeClr val="accent2">
                    <a:lumMod val="75000"/>
                  </a:schemeClr>
                </a:solidFill>
              </a:rPr>
              <a:t> nas classes especializadas.</a:t>
            </a:r>
            <a:endParaRPr lang="pt-BR" sz="1100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grpSp>
        <p:nvGrpSpPr>
          <p:cNvPr id="15" name="Grupo 14"/>
          <p:cNvGrpSpPr/>
          <p:nvPr/>
        </p:nvGrpSpPr>
        <p:grpSpPr>
          <a:xfrm>
            <a:off x="9175531" y="2941649"/>
            <a:ext cx="2601310" cy="2811645"/>
            <a:chOff x="9175531" y="3461927"/>
            <a:chExt cx="2601310" cy="2811645"/>
          </a:xfrm>
        </p:grpSpPr>
        <p:cxnSp>
          <p:nvCxnSpPr>
            <p:cNvPr id="7" name="Conector reto 6"/>
            <p:cNvCxnSpPr/>
            <p:nvPr/>
          </p:nvCxnSpPr>
          <p:spPr>
            <a:xfrm flipV="1">
              <a:off x="11776841" y="3461927"/>
              <a:ext cx="0" cy="2811645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to 8"/>
            <p:cNvCxnSpPr/>
            <p:nvPr/>
          </p:nvCxnSpPr>
          <p:spPr>
            <a:xfrm>
              <a:off x="11377128" y="6273571"/>
              <a:ext cx="399713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de seta reta 10"/>
            <p:cNvCxnSpPr/>
            <p:nvPr/>
          </p:nvCxnSpPr>
          <p:spPr>
            <a:xfrm flipH="1">
              <a:off x="9333185" y="3461927"/>
              <a:ext cx="2443655" cy="0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de seta reta 13"/>
            <p:cNvCxnSpPr/>
            <p:nvPr/>
          </p:nvCxnSpPr>
          <p:spPr>
            <a:xfrm flipH="1">
              <a:off x="9175531" y="4982230"/>
              <a:ext cx="2601309" cy="0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Retângulo 15"/>
          <p:cNvSpPr/>
          <p:nvPr/>
        </p:nvSpPr>
        <p:spPr>
          <a:xfrm>
            <a:off x="1040524" y="3257213"/>
            <a:ext cx="4957917" cy="558683"/>
          </a:xfrm>
          <a:prstGeom prst="rect">
            <a:avLst/>
          </a:prstGeom>
          <a:solidFill>
            <a:schemeClr val="accent2">
              <a:lumMod val="75000"/>
              <a:alpha val="12157"/>
            </a:schemeClr>
          </a:solidFill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CaixaDeTexto 31"/>
          <p:cNvSpPr txBox="1"/>
          <p:nvPr/>
        </p:nvSpPr>
        <p:spPr>
          <a:xfrm>
            <a:off x="2443078" y="6172531"/>
            <a:ext cx="8111934" cy="400110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2000" i="1" dirty="0" smtClean="0">
                <a:solidFill>
                  <a:schemeClr val="accent2">
                    <a:lumMod val="75000"/>
                  </a:schemeClr>
                </a:solidFill>
              </a:rPr>
              <a:t>Verifique o funcionamento da classe</a:t>
            </a:r>
            <a:r>
              <a:rPr lang="pt-BR" sz="2000" b="1" i="1" dirty="0" smtClean="0">
                <a:solidFill>
                  <a:schemeClr val="accent2">
                    <a:lumMod val="75000"/>
                  </a:schemeClr>
                </a:solidFill>
              </a:rPr>
              <a:t> financeiro</a:t>
            </a:r>
            <a:endParaRPr lang="pt-BR" sz="2000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9933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FC993B83-8AD9-B33E-5852-4D85B8D51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3198"/>
            <a:ext cx="10515600" cy="642581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Atividade</a:t>
            </a:r>
            <a:endParaRPr lang="pt-BR" dirty="0"/>
          </a:p>
        </p:txBody>
      </p:sp>
      <p:sp>
        <p:nvSpPr>
          <p:cNvPr id="3" name="CaixaDeTexto 2"/>
          <p:cNvSpPr txBox="1"/>
          <p:nvPr/>
        </p:nvSpPr>
        <p:spPr>
          <a:xfrm>
            <a:off x="898634" y="756736"/>
            <a:ext cx="10704787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 smtClean="0"/>
              <a:t>1. A </a:t>
            </a:r>
            <a:r>
              <a:rPr lang="pt-BR" sz="2000" dirty="0" err="1" smtClean="0"/>
              <a:t>UniLE</a:t>
            </a:r>
            <a:r>
              <a:rPr lang="pt-BR" sz="2000" dirty="0" smtClean="0"/>
              <a:t> é uma famosa instituição de ensino superior onde há cursos de diferentes níveis com diferentes regras de determinação de resultados para as disciplinas.</a:t>
            </a:r>
          </a:p>
          <a:p>
            <a:r>
              <a:rPr lang="pt-BR" sz="2000" dirty="0" smtClean="0"/>
              <a:t>Disciplinas da graduação possuem notas que variam de 0 a 10 e o resultado é determinado por:</a:t>
            </a:r>
          </a:p>
          <a:p>
            <a:r>
              <a:rPr lang="pt-BR" sz="2000" dirty="0" smtClean="0"/>
              <a:t>_ se a média das notas é maior ou igual a 7, o aluno é aprovado</a:t>
            </a:r>
          </a:p>
          <a:p>
            <a:r>
              <a:rPr lang="pt-BR" sz="2000" dirty="0" smtClean="0"/>
              <a:t>_ se a média das notas é menor que 7, o aluno é reprovado</a:t>
            </a:r>
          </a:p>
          <a:p>
            <a:endParaRPr lang="pt-BR" sz="2000" dirty="0"/>
          </a:p>
          <a:p>
            <a:r>
              <a:rPr lang="pt-BR" sz="2000" dirty="0" smtClean="0"/>
              <a:t>Disciplinas da especialização possuem conceitos {A, B, C ou D} e </a:t>
            </a:r>
          </a:p>
          <a:p>
            <a:r>
              <a:rPr lang="pt-BR" sz="2000" dirty="0" smtClean="0"/>
              <a:t>_ o resultado o aluno é reprovado sempre que houver conceito “D”.</a:t>
            </a:r>
          </a:p>
          <a:p>
            <a:endParaRPr lang="pt-BR" sz="2000" dirty="0" smtClean="0"/>
          </a:p>
          <a:p>
            <a:r>
              <a:rPr lang="pt-BR" sz="2000" dirty="0" smtClean="0"/>
              <a:t>Com atenção aos princípios SOLID, desenhe e implemente as classes disciplina e aluno, de maneira a determinar se o aluno será aprovado ou reprovado.</a:t>
            </a:r>
          </a:p>
          <a:p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716528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FC993B83-8AD9-B33E-5852-4D85B8D51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3198"/>
            <a:ext cx="10515600" cy="64258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Interfaces</a:t>
            </a:r>
            <a:endParaRPr lang="pt-BR" dirty="0"/>
          </a:p>
        </p:txBody>
      </p:sp>
      <p:sp>
        <p:nvSpPr>
          <p:cNvPr id="3" name="CaixaDeTexto 2"/>
          <p:cNvSpPr txBox="1"/>
          <p:nvPr/>
        </p:nvSpPr>
        <p:spPr>
          <a:xfrm>
            <a:off x="898634" y="1024758"/>
            <a:ext cx="996380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Implementam somente as assinaturas de atributos e métodos.</a:t>
            </a:r>
          </a:p>
          <a:p>
            <a:r>
              <a:rPr lang="pt-BR" dirty="0" smtClean="0"/>
              <a:t>Determina um contrato que uma classe deve  seguir, garantindo um “carga” mínima ou comum para diferentes objetos</a:t>
            </a:r>
          </a:p>
          <a:p>
            <a:endParaRPr lang="pt-BR" dirty="0"/>
          </a:p>
          <a:p>
            <a:endParaRPr lang="pt-BR" dirty="0" smtClean="0"/>
          </a:p>
        </p:txBody>
      </p:sp>
      <p:cxnSp>
        <p:nvCxnSpPr>
          <p:cNvPr id="6" name="Conector reto 5"/>
          <p:cNvCxnSpPr/>
          <p:nvPr/>
        </p:nvCxnSpPr>
        <p:spPr>
          <a:xfrm>
            <a:off x="3594976" y="2502086"/>
            <a:ext cx="0" cy="35157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226" y="2545474"/>
            <a:ext cx="257175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3670" y="2517227"/>
            <a:ext cx="3514725" cy="2247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8532" y="2471904"/>
            <a:ext cx="3562350" cy="2476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9" name="Conector reto 18"/>
          <p:cNvCxnSpPr/>
          <p:nvPr/>
        </p:nvCxnSpPr>
        <p:spPr>
          <a:xfrm>
            <a:off x="7489059" y="2487670"/>
            <a:ext cx="0" cy="35157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6259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FC993B83-8AD9-B33E-5852-4D85B8D51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3198"/>
            <a:ext cx="10515600" cy="64258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Interfaces</a:t>
            </a:r>
            <a:endParaRPr lang="pt-BR" dirty="0"/>
          </a:p>
        </p:txBody>
      </p:sp>
      <p:sp>
        <p:nvSpPr>
          <p:cNvPr id="3" name="CaixaDeTexto 2"/>
          <p:cNvSpPr txBox="1"/>
          <p:nvPr/>
        </p:nvSpPr>
        <p:spPr>
          <a:xfrm>
            <a:off x="898634" y="1024758"/>
            <a:ext cx="99638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Consumir interfaces permite receber os diferentes tipos, desde que respeitado o “contrato”.</a:t>
            </a:r>
            <a:endParaRPr lang="pt-BR" dirty="0"/>
          </a:p>
          <a:p>
            <a:endParaRPr lang="pt-BR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634" y="1893669"/>
            <a:ext cx="5508796" cy="1905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634" y="4288548"/>
            <a:ext cx="5141011" cy="2159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CaixaDeTexto 11"/>
          <p:cNvSpPr txBox="1"/>
          <p:nvPr/>
        </p:nvSpPr>
        <p:spPr>
          <a:xfrm>
            <a:off x="6195848" y="4301309"/>
            <a:ext cx="5659821" cy="1938992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100" b="1" i="1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pt-BR" sz="2400" dirty="0" smtClean="0"/>
              <a:t>As interfaces são mais restritivas que as classes abstratas.</a:t>
            </a:r>
          </a:p>
          <a:p>
            <a:r>
              <a:rPr lang="pt-BR" sz="2400" dirty="0" smtClean="0"/>
              <a:t>A estratégia de empacotamento da aplicação é beneficiada pelo uso de interfaces.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995885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FC993B83-8AD9-B33E-5852-4D85B8D51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3198"/>
            <a:ext cx="10515600" cy="64258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Factory method</a:t>
            </a:r>
            <a:endParaRPr lang="pt-BR" dirty="0"/>
          </a:p>
        </p:txBody>
      </p:sp>
      <p:sp>
        <p:nvSpPr>
          <p:cNvPr id="3" name="CaixaDeTexto 2"/>
          <p:cNvSpPr txBox="1"/>
          <p:nvPr/>
        </p:nvSpPr>
        <p:spPr>
          <a:xfrm>
            <a:off x="898634" y="1024758"/>
            <a:ext cx="996380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Definir uma interface para criação de um objeto, mas delega às suas subclasses definirem qual classe será instanciada.</a:t>
            </a:r>
          </a:p>
          <a:p>
            <a:r>
              <a:rPr lang="pt-BR" dirty="0" smtClean="0"/>
              <a:t>Permite que uma classe deixe a definição dos tipos específicos como responsabilidade de suas subclasses</a:t>
            </a:r>
          </a:p>
          <a:p>
            <a:endParaRPr lang="pt-BR" b="1" u="sng" dirty="0" smtClean="0"/>
          </a:p>
          <a:p>
            <a:r>
              <a:rPr lang="pt-BR" b="1" u="sng" dirty="0" smtClean="0"/>
              <a:t>Quando usar:</a:t>
            </a:r>
          </a:p>
          <a:p>
            <a:r>
              <a:rPr lang="pt-BR" dirty="0" smtClean="0"/>
              <a:t>Quando se deseja </a:t>
            </a:r>
            <a:r>
              <a:rPr lang="pt-BR" dirty="0"/>
              <a:t>criar objetos de um tipo específico, mas não deseja que o código cliente dependa das classes concretas desses objetos. Ele é amplamente utilizado em estruturas de frameworks, bibliotecas e </a:t>
            </a:r>
            <a:r>
              <a:rPr lang="pt-BR" dirty="0" err="1"/>
              <a:t>APIs</a:t>
            </a:r>
            <a:r>
              <a:rPr lang="pt-BR" dirty="0"/>
              <a:t> para criar objetos de maneira flexível e extensível.</a:t>
            </a:r>
          </a:p>
          <a:p>
            <a:endParaRPr lang="pt-BR" dirty="0" smtClean="0"/>
          </a:p>
          <a:p>
            <a:endParaRPr lang="pt-BR" dirty="0" smtClean="0"/>
          </a:p>
        </p:txBody>
      </p:sp>
      <p:pic>
        <p:nvPicPr>
          <p:cNvPr id="5" name="Picture 2" descr="Diagrama de classe do padrão Factory&#10;Metho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1481" y="3443057"/>
            <a:ext cx="5276850" cy="2771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2863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FC993B83-8AD9-B33E-5852-4D85B8D51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3198"/>
            <a:ext cx="10515600" cy="64258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Factory method</a:t>
            </a:r>
            <a:endParaRPr lang="pt-BR" dirty="0"/>
          </a:p>
        </p:txBody>
      </p:sp>
      <p:sp>
        <p:nvSpPr>
          <p:cNvPr id="3" name="CaixaDeTexto 2"/>
          <p:cNvSpPr txBox="1"/>
          <p:nvPr/>
        </p:nvSpPr>
        <p:spPr>
          <a:xfrm>
            <a:off x="898634" y="1024758"/>
            <a:ext cx="9963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Implementação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2220" y="1024758"/>
            <a:ext cx="7756633" cy="55040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06451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FC993B83-8AD9-B33E-5852-4D85B8D51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602"/>
            <a:ext cx="10515600" cy="64258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Factory method</a:t>
            </a:r>
            <a:endParaRPr lang="pt-BR" dirty="0"/>
          </a:p>
        </p:txBody>
      </p:sp>
      <p:sp>
        <p:nvSpPr>
          <p:cNvPr id="3" name="CaixaDeTexto 2"/>
          <p:cNvSpPr txBox="1"/>
          <p:nvPr/>
        </p:nvSpPr>
        <p:spPr>
          <a:xfrm>
            <a:off x="898634" y="504480"/>
            <a:ext cx="9963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Implementação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0087" y="414795"/>
            <a:ext cx="2257425" cy="73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055" y="966605"/>
            <a:ext cx="1733550" cy="71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055" y="1744365"/>
            <a:ext cx="3552825" cy="1276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2056" y="3038608"/>
            <a:ext cx="3571875" cy="1304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7731" y="1252513"/>
            <a:ext cx="3657600" cy="146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7731" y="2794735"/>
            <a:ext cx="3790950" cy="1409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Conector reto 5"/>
          <p:cNvCxnSpPr>
            <a:stCxn id="3" idx="2"/>
          </p:cNvCxnSpPr>
          <p:nvPr/>
        </p:nvCxnSpPr>
        <p:spPr>
          <a:xfrm flipH="1">
            <a:off x="5880537" y="873812"/>
            <a:ext cx="1" cy="34616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to 7"/>
          <p:cNvCxnSpPr/>
          <p:nvPr/>
        </p:nvCxnSpPr>
        <p:spPr>
          <a:xfrm flipV="1">
            <a:off x="2317531" y="4335494"/>
            <a:ext cx="7252138" cy="472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1712" y="4532587"/>
            <a:ext cx="4476750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Elipse 9"/>
          <p:cNvSpPr/>
          <p:nvPr/>
        </p:nvSpPr>
        <p:spPr>
          <a:xfrm>
            <a:off x="407310" y="861389"/>
            <a:ext cx="428262" cy="428262"/>
          </a:xfrm>
          <a:prstGeom prst="ellipse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rgbClr val="C00000"/>
                </a:solidFill>
              </a:rPr>
              <a:t>1</a:t>
            </a:r>
            <a:endParaRPr lang="pt-BR" dirty="0">
              <a:solidFill>
                <a:srgbClr val="C00000"/>
              </a:solidFill>
            </a:endParaRPr>
          </a:p>
        </p:txBody>
      </p:sp>
      <p:sp>
        <p:nvSpPr>
          <p:cNvPr id="18" name="Elipse 17"/>
          <p:cNvSpPr/>
          <p:nvPr/>
        </p:nvSpPr>
        <p:spPr>
          <a:xfrm>
            <a:off x="5729469" y="260884"/>
            <a:ext cx="428262" cy="428262"/>
          </a:xfrm>
          <a:prstGeom prst="ellipse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rgbClr val="C00000"/>
                </a:solidFill>
              </a:rPr>
              <a:t>2</a:t>
            </a:r>
            <a:endParaRPr lang="pt-BR" dirty="0">
              <a:solidFill>
                <a:srgbClr val="C00000"/>
              </a:solidFill>
            </a:endParaRPr>
          </a:p>
        </p:txBody>
      </p:sp>
      <p:sp>
        <p:nvSpPr>
          <p:cNvPr id="19" name="Elipse 18"/>
          <p:cNvSpPr/>
          <p:nvPr/>
        </p:nvSpPr>
        <p:spPr>
          <a:xfrm>
            <a:off x="3466153" y="4532587"/>
            <a:ext cx="428262" cy="428262"/>
          </a:xfrm>
          <a:prstGeom prst="ellipse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rgbClr val="C00000"/>
                </a:solidFill>
              </a:rPr>
              <a:t>3</a:t>
            </a:r>
            <a:endParaRPr lang="pt-BR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1589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FC993B83-8AD9-B33E-5852-4D85B8D51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3198"/>
            <a:ext cx="10515600" cy="64258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Abstract Factory</a:t>
            </a:r>
            <a:endParaRPr lang="pt-BR" dirty="0"/>
          </a:p>
        </p:txBody>
      </p:sp>
      <p:sp>
        <p:nvSpPr>
          <p:cNvPr id="3" name="CaixaDeTexto 2"/>
          <p:cNvSpPr txBox="1"/>
          <p:nvPr/>
        </p:nvSpPr>
        <p:spPr>
          <a:xfrm>
            <a:off x="898634" y="1024758"/>
            <a:ext cx="99638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mtClean="0"/>
              <a:t>Encapsula </a:t>
            </a:r>
            <a:r>
              <a:rPr lang="pt-BR" dirty="0" smtClean="0"/>
              <a:t>grupos de fábricas e controla como o cliente acessará tais fábricas.</a:t>
            </a:r>
            <a:endParaRPr lang="pt-BR" dirty="0"/>
          </a:p>
          <a:p>
            <a:endParaRPr lang="pt-BR" dirty="0" smtClean="0"/>
          </a:p>
        </p:txBody>
      </p:sp>
      <p:pic>
        <p:nvPicPr>
          <p:cNvPr id="2050" name="Picture 2" descr="Diagrama de classes do Abstract Factor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2484" y="1671089"/>
            <a:ext cx="7884839" cy="3657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1172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FC993B83-8AD9-B33E-5852-4D85B8D51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3198"/>
            <a:ext cx="10515600" cy="64258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Observer</a:t>
            </a:r>
            <a:endParaRPr lang="pt-BR" dirty="0"/>
          </a:p>
        </p:txBody>
      </p:sp>
      <p:sp>
        <p:nvSpPr>
          <p:cNvPr id="3" name="CaixaDeTexto 2"/>
          <p:cNvSpPr txBox="1"/>
          <p:nvPr/>
        </p:nvSpPr>
        <p:spPr>
          <a:xfrm>
            <a:off x="898634" y="1024758"/>
            <a:ext cx="99638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padrão </a:t>
            </a:r>
            <a:r>
              <a:rPr lang="pt-BR" b="1" i="1" dirty="0" err="1"/>
              <a:t>Observer</a:t>
            </a:r>
            <a:r>
              <a:rPr lang="pt-BR" dirty="0"/>
              <a:t> é usado para criar uma relação de dependência um-para-muitos entre objetos, de modo que quando um objeto muda de estado, todos os seus observadores são notificados e atualizados automaticamente.</a:t>
            </a:r>
            <a:endParaRPr lang="pt-BR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0311" y="2612642"/>
            <a:ext cx="6850172" cy="3677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19453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FC993B83-8AD9-B33E-5852-4D85B8D51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3198"/>
            <a:ext cx="10515600" cy="64258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Observer</a:t>
            </a:r>
            <a:endParaRPr lang="pt-BR" dirty="0"/>
          </a:p>
        </p:txBody>
      </p:sp>
      <p:sp>
        <p:nvSpPr>
          <p:cNvPr id="5" name="CaixaDeTexto 4"/>
          <p:cNvSpPr txBox="1"/>
          <p:nvPr/>
        </p:nvSpPr>
        <p:spPr>
          <a:xfrm>
            <a:off x="662154" y="740972"/>
            <a:ext cx="3626067" cy="5001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b="1" dirty="0" err="1">
                <a:solidFill>
                  <a:srgbClr val="7F0055"/>
                </a:solidFill>
                <a:latin typeface="Consolas"/>
              </a:rPr>
              <a:t>package</a:t>
            </a:r>
            <a:r>
              <a:rPr lang="pt-BR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pt-BR" sz="1100" b="1" dirty="0" err="1">
                <a:solidFill>
                  <a:srgbClr val="000000"/>
                </a:solidFill>
                <a:latin typeface="Consolas"/>
              </a:rPr>
              <a:t>Observer</a:t>
            </a:r>
            <a:r>
              <a:rPr lang="pt-BR" sz="1100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endParaRPr lang="pt-BR" sz="1100" dirty="0">
              <a:latin typeface="Consolas"/>
            </a:endParaRPr>
          </a:p>
          <a:p>
            <a:r>
              <a:rPr lang="pt-BR" sz="1100" b="1" dirty="0" err="1">
                <a:solidFill>
                  <a:srgbClr val="7F0055"/>
                </a:solidFill>
                <a:latin typeface="Consolas"/>
              </a:rPr>
              <a:t>import</a:t>
            </a:r>
            <a:r>
              <a:rPr lang="pt-BR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pt-BR" sz="1100" b="1" dirty="0" err="1">
                <a:solidFill>
                  <a:srgbClr val="000000"/>
                </a:solidFill>
                <a:latin typeface="Consolas"/>
              </a:rPr>
              <a:t>java.util.ArrayList</a:t>
            </a:r>
            <a:r>
              <a:rPr lang="pt-BR" sz="1100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pt-BR" sz="1100" b="1" dirty="0" err="1">
                <a:solidFill>
                  <a:srgbClr val="7F0055"/>
                </a:solidFill>
                <a:latin typeface="Consolas"/>
              </a:rPr>
              <a:t>import</a:t>
            </a:r>
            <a:r>
              <a:rPr lang="pt-BR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pt-BR" sz="1100" b="1" dirty="0" err="1">
                <a:solidFill>
                  <a:srgbClr val="000000"/>
                </a:solidFill>
                <a:latin typeface="Consolas"/>
              </a:rPr>
              <a:t>java.util.List</a:t>
            </a:r>
            <a:r>
              <a:rPr lang="pt-BR" sz="1100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endParaRPr lang="pt-BR" sz="1100" dirty="0">
              <a:latin typeface="Consolas"/>
            </a:endParaRPr>
          </a:p>
          <a:p>
            <a:r>
              <a:rPr lang="pt-BR" sz="1100" b="1" dirty="0" err="1">
                <a:solidFill>
                  <a:srgbClr val="7F0055"/>
                </a:solidFill>
                <a:latin typeface="Consolas"/>
              </a:rPr>
              <a:t>public</a:t>
            </a:r>
            <a:r>
              <a:rPr lang="pt-BR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pt-BR" sz="1100" b="1" dirty="0" err="1">
                <a:solidFill>
                  <a:srgbClr val="7F0055"/>
                </a:solidFill>
                <a:latin typeface="Consolas"/>
              </a:rPr>
              <a:t>class</a:t>
            </a:r>
            <a:r>
              <a:rPr lang="pt-BR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pt-BR" sz="1100" b="1" dirty="0" err="1">
                <a:solidFill>
                  <a:srgbClr val="000000"/>
                </a:solidFill>
                <a:latin typeface="Consolas"/>
              </a:rPr>
              <a:t>Subject</a:t>
            </a:r>
            <a:r>
              <a:rPr lang="pt-BR" sz="1100" b="1" dirty="0">
                <a:solidFill>
                  <a:srgbClr val="000000"/>
                </a:solidFill>
                <a:latin typeface="Consolas"/>
              </a:rPr>
              <a:t> {</a:t>
            </a:r>
          </a:p>
          <a:p>
            <a:r>
              <a:rPr lang="pt-BR" sz="1100" b="1" dirty="0" err="1">
                <a:solidFill>
                  <a:srgbClr val="7F0055"/>
                </a:solidFill>
                <a:latin typeface="Consolas"/>
              </a:rPr>
              <a:t>private</a:t>
            </a:r>
            <a:r>
              <a:rPr lang="pt-BR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pt-BR" sz="1100" b="1" dirty="0" err="1">
                <a:solidFill>
                  <a:srgbClr val="000000"/>
                </a:solidFill>
                <a:latin typeface="Consolas"/>
              </a:rPr>
              <a:t>List</a:t>
            </a:r>
            <a:r>
              <a:rPr lang="pt-BR" sz="1100" b="1" dirty="0">
                <a:solidFill>
                  <a:srgbClr val="000000"/>
                </a:solidFill>
                <a:latin typeface="Consolas"/>
              </a:rPr>
              <a:t>&lt;</a:t>
            </a:r>
            <a:r>
              <a:rPr lang="pt-BR" sz="1100" b="1" dirty="0" err="1">
                <a:solidFill>
                  <a:srgbClr val="000000"/>
                </a:solidFill>
                <a:latin typeface="Consolas"/>
              </a:rPr>
              <a:t>Observer</a:t>
            </a:r>
            <a:r>
              <a:rPr lang="pt-BR" sz="1100" b="1" dirty="0">
                <a:solidFill>
                  <a:srgbClr val="000000"/>
                </a:solidFill>
                <a:latin typeface="Consolas"/>
              </a:rPr>
              <a:t>&gt; </a:t>
            </a:r>
            <a:r>
              <a:rPr lang="pt-BR" sz="1100" b="1" dirty="0" err="1">
                <a:solidFill>
                  <a:srgbClr val="0000C0"/>
                </a:solidFill>
                <a:latin typeface="Consolas"/>
              </a:rPr>
              <a:t>observers</a:t>
            </a:r>
            <a:r>
              <a:rPr lang="pt-BR" sz="1100" b="1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pt-BR" sz="1100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pt-BR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pt-BR" sz="1100" b="1" dirty="0" err="1">
                <a:solidFill>
                  <a:srgbClr val="000000"/>
                </a:solidFill>
                <a:latin typeface="Consolas"/>
              </a:rPr>
              <a:t>ArrayList</a:t>
            </a:r>
            <a:r>
              <a:rPr lang="pt-BR" sz="1100" b="1" dirty="0">
                <a:solidFill>
                  <a:srgbClr val="000000"/>
                </a:solidFill>
                <a:latin typeface="Consolas"/>
              </a:rPr>
              <a:t>&lt;&gt;();</a:t>
            </a:r>
          </a:p>
          <a:p>
            <a:r>
              <a:rPr lang="pt-BR" sz="1100" b="1" dirty="0" err="1">
                <a:solidFill>
                  <a:srgbClr val="7F0055"/>
                </a:solidFill>
                <a:latin typeface="Consolas"/>
              </a:rPr>
              <a:t>private</a:t>
            </a:r>
            <a:r>
              <a:rPr lang="pt-BR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pt-BR" sz="1100" b="1" dirty="0" err="1">
                <a:solidFill>
                  <a:srgbClr val="7F0055"/>
                </a:solidFill>
                <a:latin typeface="Consolas"/>
              </a:rPr>
              <a:t>int</a:t>
            </a:r>
            <a:r>
              <a:rPr lang="pt-BR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pt-BR" sz="1100" b="1" dirty="0" err="1">
                <a:solidFill>
                  <a:srgbClr val="0000C0"/>
                </a:solidFill>
                <a:latin typeface="Consolas"/>
              </a:rPr>
              <a:t>State</a:t>
            </a:r>
            <a:r>
              <a:rPr lang="pt-BR" sz="1100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endParaRPr lang="pt-BR" sz="1100" dirty="0">
              <a:latin typeface="Consolas"/>
            </a:endParaRPr>
          </a:p>
          <a:p>
            <a:r>
              <a:rPr lang="pt-BR" sz="1100" b="1" dirty="0" err="1">
                <a:solidFill>
                  <a:srgbClr val="7F0055"/>
                </a:solidFill>
                <a:latin typeface="Consolas"/>
              </a:rPr>
              <a:t>public</a:t>
            </a:r>
            <a:r>
              <a:rPr lang="pt-BR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pt-BR" sz="1100" b="1" dirty="0" err="1">
                <a:solidFill>
                  <a:srgbClr val="7F0055"/>
                </a:solidFill>
                <a:latin typeface="Consolas"/>
              </a:rPr>
              <a:t>int</a:t>
            </a:r>
            <a:r>
              <a:rPr lang="pt-BR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pt-BR" sz="1100" b="1" dirty="0" err="1">
                <a:solidFill>
                  <a:srgbClr val="000000"/>
                </a:solidFill>
                <a:latin typeface="Consolas"/>
              </a:rPr>
              <a:t>getState</a:t>
            </a:r>
            <a:r>
              <a:rPr lang="pt-BR" sz="1100" b="1" dirty="0">
                <a:solidFill>
                  <a:srgbClr val="000000"/>
                </a:solidFill>
                <a:latin typeface="Consolas"/>
              </a:rPr>
              <a:t>() {</a:t>
            </a:r>
          </a:p>
          <a:p>
            <a:r>
              <a:rPr lang="pt-BR" sz="1100" dirty="0">
                <a:solidFill>
                  <a:srgbClr val="000000"/>
                </a:solidFill>
                <a:latin typeface="Consolas"/>
              </a:rPr>
              <a:t>        </a:t>
            </a:r>
            <a:r>
              <a:rPr lang="pt-BR" sz="1100" b="1" dirty="0" err="1">
                <a:solidFill>
                  <a:srgbClr val="7F0055"/>
                </a:solidFill>
                <a:latin typeface="Consolas"/>
              </a:rPr>
              <a:t>return</a:t>
            </a:r>
            <a:r>
              <a:rPr lang="pt-BR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pt-BR" sz="1100" b="1" dirty="0" err="1">
                <a:solidFill>
                  <a:srgbClr val="0000C0"/>
                </a:solidFill>
                <a:latin typeface="Consolas"/>
              </a:rPr>
              <a:t>State</a:t>
            </a:r>
            <a:r>
              <a:rPr lang="pt-BR" sz="1100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pt-BR" sz="11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endParaRPr lang="pt-BR" sz="1100" dirty="0">
              <a:latin typeface="Consolas"/>
            </a:endParaRPr>
          </a:p>
          <a:p>
            <a:r>
              <a:rPr lang="pt-BR" sz="11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pt-BR" sz="1100" b="1" dirty="0" err="1">
                <a:solidFill>
                  <a:srgbClr val="7F0055"/>
                </a:solidFill>
                <a:latin typeface="Consolas"/>
              </a:rPr>
              <a:t>public</a:t>
            </a:r>
            <a:r>
              <a:rPr lang="pt-BR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pt-BR" sz="1100" b="1" dirty="0" err="1">
                <a:solidFill>
                  <a:srgbClr val="7F0055"/>
                </a:solidFill>
                <a:latin typeface="Consolas"/>
              </a:rPr>
              <a:t>void</a:t>
            </a:r>
            <a:r>
              <a:rPr lang="pt-BR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pt-BR" sz="1100" b="1" dirty="0" err="1">
                <a:solidFill>
                  <a:srgbClr val="000000"/>
                </a:solidFill>
                <a:latin typeface="Consolas"/>
              </a:rPr>
              <a:t>setState</a:t>
            </a:r>
            <a:r>
              <a:rPr lang="pt-BR" sz="11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pt-BR" sz="1100" b="1" dirty="0" err="1">
                <a:solidFill>
                  <a:srgbClr val="7F0055"/>
                </a:solidFill>
                <a:latin typeface="Consolas"/>
              </a:rPr>
              <a:t>int</a:t>
            </a:r>
            <a:r>
              <a:rPr lang="pt-BR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pt-BR" sz="1100" b="1" dirty="0" err="1">
                <a:solidFill>
                  <a:srgbClr val="6A3E3E"/>
                </a:solidFill>
                <a:latin typeface="Consolas"/>
              </a:rPr>
              <a:t>state</a:t>
            </a:r>
            <a:r>
              <a:rPr lang="pt-BR" sz="1100" b="1" dirty="0">
                <a:solidFill>
                  <a:srgbClr val="000000"/>
                </a:solidFill>
                <a:latin typeface="Consolas"/>
              </a:rPr>
              <a:t>) {</a:t>
            </a:r>
          </a:p>
          <a:p>
            <a:r>
              <a:rPr lang="pt-BR" sz="1100" dirty="0">
                <a:solidFill>
                  <a:srgbClr val="000000"/>
                </a:solidFill>
                <a:latin typeface="Consolas"/>
              </a:rPr>
              <a:t>        </a:t>
            </a:r>
            <a:r>
              <a:rPr lang="pt-BR" sz="1100" b="1" dirty="0" err="1">
                <a:solidFill>
                  <a:srgbClr val="7F0055"/>
                </a:solidFill>
                <a:latin typeface="Consolas"/>
              </a:rPr>
              <a:t>this</a:t>
            </a:r>
            <a:r>
              <a:rPr lang="pt-BR" sz="1100" b="1" dirty="0" err="1">
                <a:solidFill>
                  <a:srgbClr val="000000"/>
                </a:solidFill>
                <a:latin typeface="Consolas"/>
              </a:rPr>
              <a:t>.</a:t>
            </a:r>
            <a:r>
              <a:rPr lang="pt-BR" sz="1100" b="1" dirty="0" err="1">
                <a:solidFill>
                  <a:srgbClr val="0000C0"/>
                </a:solidFill>
                <a:latin typeface="Consolas"/>
              </a:rPr>
              <a:t>State</a:t>
            </a:r>
            <a:r>
              <a:rPr lang="pt-BR" sz="1100" b="1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pt-BR" sz="1100" b="1" dirty="0" err="1">
                <a:solidFill>
                  <a:srgbClr val="6A3E3E"/>
                </a:solidFill>
                <a:latin typeface="Consolas"/>
              </a:rPr>
              <a:t>state</a:t>
            </a:r>
            <a:r>
              <a:rPr lang="pt-BR" sz="1100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pt-BR" sz="1100" dirty="0">
                <a:solidFill>
                  <a:srgbClr val="000000"/>
                </a:solidFill>
                <a:latin typeface="Consolas"/>
              </a:rPr>
              <a:t>        </a:t>
            </a:r>
            <a:r>
              <a:rPr lang="pt-BR" sz="1100" dirty="0" err="1">
                <a:solidFill>
                  <a:srgbClr val="000000"/>
                </a:solidFill>
                <a:latin typeface="Consolas"/>
              </a:rPr>
              <a:t>notifyAllObservers</a:t>
            </a:r>
            <a:r>
              <a:rPr lang="pt-BR" sz="1100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r>
              <a:rPr lang="pt-BR" sz="1100" dirty="0">
                <a:solidFill>
                  <a:srgbClr val="000000"/>
                </a:solidFill>
                <a:latin typeface="Consolas"/>
              </a:rPr>
              <a:t>    }</a:t>
            </a:r>
          </a:p>
          <a:p>
            <a:r>
              <a:rPr lang="pt-BR" sz="1100" dirty="0">
                <a:solidFill>
                  <a:srgbClr val="000000"/>
                </a:solidFill>
                <a:latin typeface="Consolas"/>
              </a:rPr>
              <a:t>    </a:t>
            </a:r>
          </a:p>
          <a:p>
            <a:r>
              <a:rPr lang="pt-BR" sz="11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pt-BR" sz="1100" b="1" dirty="0" err="1">
                <a:solidFill>
                  <a:srgbClr val="7F0055"/>
                </a:solidFill>
                <a:latin typeface="Consolas"/>
              </a:rPr>
              <a:t>public</a:t>
            </a:r>
            <a:r>
              <a:rPr lang="pt-BR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pt-BR" sz="1100" b="1" dirty="0" err="1">
                <a:solidFill>
                  <a:srgbClr val="7F0055"/>
                </a:solidFill>
                <a:latin typeface="Consolas"/>
              </a:rPr>
              <a:t>void</a:t>
            </a:r>
            <a:r>
              <a:rPr lang="pt-BR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pt-BR" sz="1100" b="1" dirty="0" err="1">
                <a:solidFill>
                  <a:srgbClr val="000000"/>
                </a:solidFill>
                <a:latin typeface="Consolas"/>
              </a:rPr>
              <a:t>attach</a:t>
            </a:r>
            <a:r>
              <a:rPr lang="pt-BR" sz="11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pt-BR" sz="1100" b="1" dirty="0" err="1">
                <a:solidFill>
                  <a:srgbClr val="000000"/>
                </a:solidFill>
                <a:latin typeface="Consolas"/>
              </a:rPr>
              <a:t>Observer</a:t>
            </a:r>
            <a:r>
              <a:rPr lang="pt-BR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pt-BR" sz="1100" b="1" dirty="0" err="1">
                <a:solidFill>
                  <a:srgbClr val="6A3E3E"/>
                </a:solidFill>
                <a:latin typeface="Consolas"/>
              </a:rPr>
              <a:t>observer</a:t>
            </a:r>
            <a:r>
              <a:rPr lang="pt-BR" sz="1100" b="1" dirty="0">
                <a:solidFill>
                  <a:srgbClr val="000000"/>
                </a:solidFill>
                <a:latin typeface="Consolas"/>
              </a:rPr>
              <a:t>) {</a:t>
            </a:r>
          </a:p>
          <a:p>
            <a:r>
              <a:rPr lang="pt-BR" sz="1100" dirty="0">
                <a:solidFill>
                  <a:srgbClr val="000000"/>
                </a:solidFill>
                <a:latin typeface="Consolas"/>
              </a:rPr>
              <a:t>        </a:t>
            </a:r>
            <a:r>
              <a:rPr lang="pt-BR" sz="1100" dirty="0" err="1">
                <a:solidFill>
                  <a:srgbClr val="0000C0"/>
                </a:solidFill>
                <a:latin typeface="Consolas"/>
              </a:rPr>
              <a:t>observers</a:t>
            </a:r>
            <a:r>
              <a:rPr lang="pt-BR" sz="1100" dirty="0" err="1">
                <a:solidFill>
                  <a:srgbClr val="000000"/>
                </a:solidFill>
                <a:latin typeface="Consolas"/>
              </a:rPr>
              <a:t>.add</a:t>
            </a:r>
            <a:r>
              <a:rPr lang="pt-BR" sz="11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pt-BR" sz="1100" dirty="0" err="1">
                <a:solidFill>
                  <a:srgbClr val="6A3E3E"/>
                </a:solidFill>
                <a:latin typeface="Consolas"/>
              </a:rPr>
              <a:t>observer</a:t>
            </a:r>
            <a:r>
              <a:rPr lang="pt-BR" sz="1100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pt-BR" sz="1100" dirty="0">
                <a:solidFill>
                  <a:srgbClr val="000000"/>
                </a:solidFill>
                <a:latin typeface="Consolas"/>
              </a:rPr>
              <a:t>    }</a:t>
            </a:r>
          </a:p>
          <a:p>
            <a:r>
              <a:rPr lang="pt-BR" sz="1100" dirty="0">
                <a:solidFill>
                  <a:srgbClr val="000000"/>
                </a:solidFill>
                <a:latin typeface="Consolas"/>
              </a:rPr>
              <a:t>    </a:t>
            </a:r>
          </a:p>
          <a:p>
            <a:r>
              <a:rPr lang="pt-BR" sz="110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pt-BR" sz="1100" b="1" dirty="0" err="1">
                <a:solidFill>
                  <a:srgbClr val="7F0055"/>
                </a:solidFill>
                <a:latin typeface="Consolas"/>
              </a:rPr>
              <a:t>public</a:t>
            </a:r>
            <a:r>
              <a:rPr lang="pt-BR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pt-BR" sz="1100" b="1" dirty="0" err="1">
                <a:solidFill>
                  <a:srgbClr val="7F0055"/>
                </a:solidFill>
                <a:latin typeface="Consolas"/>
              </a:rPr>
              <a:t>void</a:t>
            </a:r>
            <a:r>
              <a:rPr lang="pt-BR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pt-BR" sz="1100" b="1" dirty="0" err="1">
                <a:solidFill>
                  <a:srgbClr val="000000"/>
                </a:solidFill>
                <a:latin typeface="Consolas"/>
              </a:rPr>
              <a:t>notifyAllObservers</a:t>
            </a:r>
            <a:r>
              <a:rPr lang="pt-BR" sz="1100" b="1" dirty="0">
                <a:solidFill>
                  <a:srgbClr val="000000"/>
                </a:solidFill>
                <a:latin typeface="Consolas"/>
              </a:rPr>
              <a:t>() {</a:t>
            </a:r>
          </a:p>
          <a:p>
            <a:r>
              <a:rPr lang="pt-BR" sz="1100" dirty="0">
                <a:solidFill>
                  <a:srgbClr val="000000"/>
                </a:solidFill>
                <a:latin typeface="Consolas"/>
              </a:rPr>
              <a:t>        </a:t>
            </a:r>
            <a:r>
              <a:rPr lang="pt-BR" sz="1100" b="1" dirty="0">
                <a:solidFill>
                  <a:srgbClr val="7F0055"/>
                </a:solidFill>
                <a:latin typeface="Consolas"/>
              </a:rPr>
              <a:t>for</a:t>
            </a:r>
            <a:r>
              <a:rPr lang="pt-BR" sz="1100" b="1" dirty="0">
                <a:solidFill>
                  <a:srgbClr val="000000"/>
                </a:solidFill>
                <a:latin typeface="Consolas"/>
              </a:rPr>
              <a:t> (</a:t>
            </a:r>
            <a:r>
              <a:rPr lang="pt-BR" sz="1100" b="1" dirty="0" err="1">
                <a:solidFill>
                  <a:srgbClr val="000000"/>
                </a:solidFill>
                <a:latin typeface="Consolas"/>
              </a:rPr>
              <a:t>Observer</a:t>
            </a:r>
            <a:r>
              <a:rPr lang="pt-BR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pt-BR" sz="1100" b="1" dirty="0" err="1">
                <a:solidFill>
                  <a:srgbClr val="6A3E3E"/>
                </a:solidFill>
                <a:latin typeface="Consolas"/>
              </a:rPr>
              <a:t>observer</a:t>
            </a:r>
            <a:r>
              <a:rPr lang="pt-BR" sz="1100" b="1" dirty="0">
                <a:solidFill>
                  <a:srgbClr val="000000"/>
                </a:solidFill>
                <a:latin typeface="Consolas"/>
              </a:rPr>
              <a:t> : </a:t>
            </a:r>
            <a:r>
              <a:rPr lang="pt-BR" sz="1100" b="1" dirty="0" err="1">
                <a:solidFill>
                  <a:srgbClr val="0000C0"/>
                </a:solidFill>
                <a:latin typeface="Consolas"/>
              </a:rPr>
              <a:t>observers</a:t>
            </a:r>
            <a:r>
              <a:rPr lang="pt-BR" sz="1100" b="1" dirty="0">
                <a:solidFill>
                  <a:srgbClr val="000000"/>
                </a:solidFill>
                <a:latin typeface="Consolas"/>
              </a:rPr>
              <a:t>) {</a:t>
            </a:r>
          </a:p>
          <a:p>
            <a:r>
              <a:rPr lang="pt-BR" sz="1100" dirty="0">
                <a:solidFill>
                  <a:srgbClr val="000000"/>
                </a:solidFill>
                <a:latin typeface="Consolas"/>
              </a:rPr>
              <a:t>            </a:t>
            </a:r>
            <a:r>
              <a:rPr lang="pt-BR" sz="1100" dirty="0" err="1">
                <a:solidFill>
                  <a:srgbClr val="6A3E3E"/>
                </a:solidFill>
                <a:latin typeface="Consolas"/>
              </a:rPr>
              <a:t>observer</a:t>
            </a:r>
            <a:r>
              <a:rPr lang="pt-BR" sz="1100" dirty="0" err="1">
                <a:solidFill>
                  <a:srgbClr val="000000"/>
                </a:solidFill>
                <a:latin typeface="Consolas"/>
              </a:rPr>
              <a:t>.update</a:t>
            </a:r>
            <a:r>
              <a:rPr lang="pt-BR" sz="1100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r>
              <a:rPr lang="pt-BR" sz="1100" dirty="0">
                <a:solidFill>
                  <a:srgbClr val="000000"/>
                </a:solidFill>
                <a:latin typeface="Consolas"/>
              </a:rPr>
              <a:t>        }</a:t>
            </a:r>
          </a:p>
          <a:p>
            <a:r>
              <a:rPr lang="pt-BR" sz="1100" dirty="0">
                <a:solidFill>
                  <a:srgbClr val="000000"/>
                </a:solidFill>
                <a:latin typeface="Consolas"/>
              </a:rPr>
              <a:t>    }</a:t>
            </a:r>
          </a:p>
          <a:p>
            <a:r>
              <a:rPr lang="pt-BR" sz="1100" dirty="0">
                <a:solidFill>
                  <a:srgbClr val="000000"/>
                </a:solidFill>
                <a:latin typeface="Consolas"/>
              </a:rPr>
              <a:t>}</a:t>
            </a:r>
            <a:endParaRPr lang="pt-BR" sz="1100" dirty="0"/>
          </a:p>
        </p:txBody>
      </p:sp>
      <p:cxnSp>
        <p:nvCxnSpPr>
          <p:cNvPr id="7" name="Conector reto 6"/>
          <p:cNvCxnSpPr/>
          <p:nvPr/>
        </p:nvCxnSpPr>
        <p:spPr>
          <a:xfrm>
            <a:off x="4524703" y="551786"/>
            <a:ext cx="0" cy="61485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/>
          <p:cNvSpPr txBox="1"/>
          <p:nvPr/>
        </p:nvSpPr>
        <p:spPr>
          <a:xfrm>
            <a:off x="4729654" y="186974"/>
            <a:ext cx="2646878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b="1" dirty="0" err="1">
                <a:solidFill>
                  <a:srgbClr val="7F0055"/>
                </a:solidFill>
                <a:latin typeface="Consolas"/>
              </a:rPr>
              <a:t>package</a:t>
            </a:r>
            <a:r>
              <a:rPr lang="pt-BR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pt-BR" sz="1100" b="1" dirty="0" err="1">
                <a:solidFill>
                  <a:srgbClr val="000000"/>
                </a:solidFill>
                <a:latin typeface="Consolas"/>
              </a:rPr>
              <a:t>Observer</a:t>
            </a:r>
            <a:r>
              <a:rPr lang="pt-BR" sz="1100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endParaRPr lang="pt-BR" sz="1100" dirty="0">
              <a:latin typeface="Consolas"/>
            </a:endParaRPr>
          </a:p>
          <a:p>
            <a:r>
              <a:rPr lang="pt-BR" sz="1100" b="1" dirty="0" err="1">
                <a:solidFill>
                  <a:srgbClr val="7F0055"/>
                </a:solidFill>
                <a:latin typeface="Consolas"/>
              </a:rPr>
              <a:t>public</a:t>
            </a:r>
            <a:r>
              <a:rPr lang="pt-BR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pt-BR" sz="1100" b="1" dirty="0">
                <a:solidFill>
                  <a:srgbClr val="7F0055"/>
                </a:solidFill>
                <a:latin typeface="Consolas"/>
              </a:rPr>
              <a:t>abstract</a:t>
            </a:r>
            <a:r>
              <a:rPr lang="pt-BR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pt-BR" sz="1100" b="1" dirty="0" err="1">
                <a:solidFill>
                  <a:srgbClr val="7F0055"/>
                </a:solidFill>
                <a:latin typeface="Consolas"/>
              </a:rPr>
              <a:t>class</a:t>
            </a:r>
            <a:r>
              <a:rPr lang="pt-BR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pt-BR" sz="1100" b="1" dirty="0" err="1">
                <a:solidFill>
                  <a:srgbClr val="000000"/>
                </a:solidFill>
                <a:latin typeface="Consolas"/>
              </a:rPr>
              <a:t>Observer</a:t>
            </a:r>
            <a:r>
              <a:rPr lang="pt-BR" sz="1100" b="1" dirty="0">
                <a:solidFill>
                  <a:srgbClr val="000000"/>
                </a:solidFill>
                <a:latin typeface="Consolas"/>
              </a:rPr>
              <a:t> {</a:t>
            </a:r>
          </a:p>
          <a:p>
            <a:r>
              <a:rPr lang="pt-BR" sz="1100" b="1" dirty="0" err="1">
                <a:solidFill>
                  <a:srgbClr val="7F0055"/>
                </a:solidFill>
                <a:latin typeface="Consolas"/>
              </a:rPr>
              <a:t>protected</a:t>
            </a:r>
            <a:r>
              <a:rPr lang="pt-BR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pt-BR" sz="1100" b="1" dirty="0" err="1">
                <a:solidFill>
                  <a:srgbClr val="000000"/>
                </a:solidFill>
                <a:latin typeface="Consolas"/>
              </a:rPr>
              <a:t>Subject</a:t>
            </a:r>
            <a:r>
              <a:rPr lang="pt-BR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pt-BR" sz="1100" b="1" dirty="0" err="1">
                <a:solidFill>
                  <a:srgbClr val="0000C0"/>
                </a:solidFill>
                <a:latin typeface="Consolas"/>
              </a:rPr>
              <a:t>subject</a:t>
            </a:r>
            <a:r>
              <a:rPr lang="pt-BR" sz="1100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pt-BR" sz="1100" b="1" dirty="0" err="1">
                <a:solidFill>
                  <a:srgbClr val="7F0055"/>
                </a:solidFill>
                <a:latin typeface="Consolas"/>
              </a:rPr>
              <a:t>public</a:t>
            </a:r>
            <a:r>
              <a:rPr lang="pt-BR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pt-BR" sz="1100" b="1" dirty="0">
                <a:solidFill>
                  <a:srgbClr val="7F0055"/>
                </a:solidFill>
                <a:latin typeface="Consolas"/>
              </a:rPr>
              <a:t>abstract</a:t>
            </a:r>
            <a:r>
              <a:rPr lang="pt-BR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pt-BR" sz="1100" b="1" dirty="0" err="1">
                <a:solidFill>
                  <a:srgbClr val="7F0055"/>
                </a:solidFill>
                <a:latin typeface="Consolas"/>
              </a:rPr>
              <a:t>void</a:t>
            </a:r>
            <a:r>
              <a:rPr lang="pt-BR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pt-BR" sz="1100" b="1" dirty="0" err="1">
                <a:solidFill>
                  <a:srgbClr val="000000"/>
                </a:solidFill>
                <a:latin typeface="Consolas"/>
              </a:rPr>
              <a:t>update</a:t>
            </a:r>
            <a:r>
              <a:rPr lang="pt-BR" sz="1100" b="1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r>
              <a:rPr lang="pt-BR" sz="1100" dirty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cxnSp>
        <p:nvCxnSpPr>
          <p:cNvPr id="10" name="Conector reto 9"/>
          <p:cNvCxnSpPr/>
          <p:nvPr/>
        </p:nvCxnSpPr>
        <p:spPr>
          <a:xfrm>
            <a:off x="4729653" y="1326501"/>
            <a:ext cx="673187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/>
          <p:cNvSpPr txBox="1"/>
          <p:nvPr/>
        </p:nvSpPr>
        <p:spPr>
          <a:xfrm>
            <a:off x="4729653" y="1458756"/>
            <a:ext cx="7263527" cy="2462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b="1" dirty="0" err="1">
                <a:solidFill>
                  <a:srgbClr val="7F0055"/>
                </a:solidFill>
                <a:latin typeface="Consolas"/>
              </a:rPr>
              <a:t>package</a:t>
            </a:r>
            <a:r>
              <a:rPr lang="pt-BR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pt-BR" sz="1100" b="1" dirty="0" err="1">
                <a:solidFill>
                  <a:srgbClr val="000000"/>
                </a:solidFill>
                <a:latin typeface="Consolas"/>
              </a:rPr>
              <a:t>Observer</a:t>
            </a:r>
            <a:r>
              <a:rPr lang="pt-BR" sz="1100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endParaRPr lang="pt-BR" sz="1100" dirty="0">
              <a:latin typeface="Consolas"/>
            </a:endParaRPr>
          </a:p>
          <a:p>
            <a:r>
              <a:rPr lang="en-US" sz="1100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US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b="1" dirty="0">
                <a:solidFill>
                  <a:srgbClr val="7F0055"/>
                </a:solidFill>
                <a:latin typeface="Consolas"/>
              </a:rPr>
              <a:t>class</a:t>
            </a:r>
            <a:r>
              <a:rPr lang="en-US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b="1" dirty="0" err="1">
                <a:solidFill>
                  <a:srgbClr val="000000"/>
                </a:solidFill>
                <a:latin typeface="Consolas"/>
              </a:rPr>
              <a:t>ConcreteObserver</a:t>
            </a:r>
            <a:r>
              <a:rPr lang="en-US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100" b="1" dirty="0">
                <a:solidFill>
                  <a:srgbClr val="7F0055"/>
                </a:solidFill>
                <a:latin typeface="Consolas"/>
              </a:rPr>
              <a:t>extends</a:t>
            </a:r>
            <a:r>
              <a:rPr lang="en-US" sz="1100" b="1" dirty="0">
                <a:solidFill>
                  <a:srgbClr val="000000"/>
                </a:solidFill>
                <a:latin typeface="Consolas"/>
              </a:rPr>
              <a:t> Observer {</a:t>
            </a:r>
          </a:p>
          <a:p>
            <a:r>
              <a:rPr lang="pt-BR" sz="1100" dirty="0">
                <a:solidFill>
                  <a:srgbClr val="3F7F5F"/>
                </a:solidFill>
                <a:latin typeface="Consolas"/>
              </a:rPr>
              <a:t>//</a:t>
            </a:r>
            <a:r>
              <a:rPr lang="pt-BR" sz="1100" u="sng" dirty="0" err="1">
                <a:solidFill>
                  <a:srgbClr val="3F7F5F"/>
                </a:solidFill>
                <a:latin typeface="Consolas"/>
              </a:rPr>
              <a:t>Construtuor</a:t>
            </a:r>
            <a:endParaRPr lang="pt-BR" sz="1100" u="sng" dirty="0">
              <a:solidFill>
                <a:srgbClr val="3F7F5F"/>
              </a:solidFill>
              <a:latin typeface="Consolas"/>
            </a:endParaRPr>
          </a:p>
          <a:p>
            <a:r>
              <a:rPr lang="pt-BR" sz="1100" b="1" dirty="0" err="1">
                <a:solidFill>
                  <a:srgbClr val="7F0055"/>
                </a:solidFill>
                <a:latin typeface="Consolas"/>
              </a:rPr>
              <a:t>public</a:t>
            </a:r>
            <a:r>
              <a:rPr lang="pt-BR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pt-BR" sz="1100" b="1" dirty="0" err="1">
                <a:solidFill>
                  <a:srgbClr val="000000"/>
                </a:solidFill>
                <a:latin typeface="Consolas"/>
              </a:rPr>
              <a:t>ConcreteObserver</a:t>
            </a:r>
            <a:r>
              <a:rPr lang="pt-BR" sz="11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pt-BR" sz="1100" b="1" dirty="0" err="1">
                <a:solidFill>
                  <a:srgbClr val="000000"/>
                </a:solidFill>
                <a:latin typeface="Consolas"/>
              </a:rPr>
              <a:t>Subject</a:t>
            </a:r>
            <a:r>
              <a:rPr lang="pt-BR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pt-BR" sz="1100" b="1" dirty="0" err="1">
                <a:solidFill>
                  <a:srgbClr val="6A3E3E"/>
                </a:solidFill>
                <a:latin typeface="Consolas"/>
              </a:rPr>
              <a:t>subject</a:t>
            </a:r>
            <a:r>
              <a:rPr lang="pt-BR" sz="1100" b="1" dirty="0">
                <a:solidFill>
                  <a:srgbClr val="000000"/>
                </a:solidFill>
                <a:latin typeface="Consolas"/>
              </a:rPr>
              <a:t>) {</a:t>
            </a:r>
          </a:p>
          <a:p>
            <a:r>
              <a:rPr lang="pt-BR" sz="1100" dirty="0">
                <a:solidFill>
                  <a:srgbClr val="000000"/>
                </a:solidFill>
                <a:latin typeface="Consolas"/>
              </a:rPr>
              <a:t>        </a:t>
            </a:r>
            <a:r>
              <a:rPr lang="pt-BR" sz="1100" b="1" dirty="0" err="1">
                <a:solidFill>
                  <a:srgbClr val="7F0055"/>
                </a:solidFill>
                <a:latin typeface="Consolas"/>
              </a:rPr>
              <a:t>this</a:t>
            </a:r>
            <a:r>
              <a:rPr lang="pt-BR" sz="1100" b="1" dirty="0" err="1">
                <a:solidFill>
                  <a:srgbClr val="000000"/>
                </a:solidFill>
                <a:latin typeface="Consolas"/>
              </a:rPr>
              <a:t>.</a:t>
            </a:r>
            <a:r>
              <a:rPr lang="pt-BR" sz="1100" b="1" dirty="0" err="1">
                <a:solidFill>
                  <a:srgbClr val="0000C0"/>
                </a:solidFill>
                <a:latin typeface="Consolas"/>
              </a:rPr>
              <a:t>subject</a:t>
            </a:r>
            <a:r>
              <a:rPr lang="pt-BR" sz="1100" b="1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pt-BR" sz="1100" b="1" dirty="0" err="1">
                <a:solidFill>
                  <a:srgbClr val="6A3E3E"/>
                </a:solidFill>
                <a:latin typeface="Consolas"/>
              </a:rPr>
              <a:t>subject</a:t>
            </a:r>
            <a:r>
              <a:rPr lang="pt-BR" sz="1100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pt-BR" sz="1100" dirty="0">
                <a:solidFill>
                  <a:srgbClr val="000000"/>
                </a:solidFill>
                <a:latin typeface="Consolas"/>
              </a:rPr>
              <a:t>        </a:t>
            </a:r>
            <a:r>
              <a:rPr lang="pt-BR" sz="1100" b="1" dirty="0" err="1">
                <a:solidFill>
                  <a:srgbClr val="7F0055"/>
                </a:solidFill>
                <a:latin typeface="Consolas"/>
              </a:rPr>
              <a:t>this</a:t>
            </a:r>
            <a:r>
              <a:rPr lang="pt-BR" sz="1100" b="1" dirty="0" err="1">
                <a:solidFill>
                  <a:srgbClr val="000000"/>
                </a:solidFill>
                <a:latin typeface="Consolas"/>
              </a:rPr>
              <a:t>.</a:t>
            </a:r>
            <a:r>
              <a:rPr lang="pt-BR" sz="1100" b="1" dirty="0" err="1">
                <a:solidFill>
                  <a:srgbClr val="0000C0"/>
                </a:solidFill>
                <a:latin typeface="Consolas"/>
              </a:rPr>
              <a:t>subject</a:t>
            </a:r>
            <a:r>
              <a:rPr lang="pt-BR" sz="1100" b="1" dirty="0" err="1">
                <a:solidFill>
                  <a:srgbClr val="000000"/>
                </a:solidFill>
                <a:latin typeface="Consolas"/>
              </a:rPr>
              <a:t>.attach</a:t>
            </a:r>
            <a:r>
              <a:rPr lang="pt-BR" sz="11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pt-BR" sz="1100" b="1" dirty="0" err="1">
                <a:solidFill>
                  <a:srgbClr val="7F0055"/>
                </a:solidFill>
                <a:latin typeface="Consolas"/>
              </a:rPr>
              <a:t>this</a:t>
            </a:r>
            <a:r>
              <a:rPr lang="pt-BR" sz="1100" b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pt-BR" sz="1100" dirty="0">
                <a:solidFill>
                  <a:srgbClr val="000000"/>
                </a:solidFill>
                <a:latin typeface="Consolas"/>
              </a:rPr>
              <a:t>    }</a:t>
            </a:r>
          </a:p>
          <a:p>
            <a:endParaRPr lang="pt-BR" sz="1100" dirty="0">
              <a:latin typeface="Consolas"/>
            </a:endParaRPr>
          </a:p>
          <a:p>
            <a:r>
              <a:rPr lang="pt-BR" sz="1100" dirty="0">
                <a:solidFill>
                  <a:srgbClr val="646464"/>
                </a:solidFill>
                <a:latin typeface="Consolas"/>
              </a:rPr>
              <a:t>@</a:t>
            </a:r>
            <a:r>
              <a:rPr lang="pt-BR" sz="1100" dirty="0" err="1">
                <a:solidFill>
                  <a:srgbClr val="646464"/>
                </a:solidFill>
                <a:latin typeface="Consolas"/>
              </a:rPr>
              <a:t>Override</a:t>
            </a:r>
            <a:endParaRPr lang="pt-BR" sz="1100" dirty="0">
              <a:solidFill>
                <a:srgbClr val="646464"/>
              </a:solidFill>
              <a:latin typeface="Consolas"/>
            </a:endParaRPr>
          </a:p>
          <a:p>
            <a:r>
              <a:rPr lang="pt-BR" sz="1100" b="1" dirty="0" err="1">
                <a:solidFill>
                  <a:srgbClr val="7F0055"/>
                </a:solidFill>
                <a:latin typeface="Consolas"/>
              </a:rPr>
              <a:t>public</a:t>
            </a:r>
            <a:r>
              <a:rPr lang="pt-BR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pt-BR" sz="1100" b="1" dirty="0" err="1">
                <a:solidFill>
                  <a:srgbClr val="7F0055"/>
                </a:solidFill>
                <a:latin typeface="Consolas"/>
              </a:rPr>
              <a:t>void</a:t>
            </a:r>
            <a:r>
              <a:rPr lang="pt-BR" sz="11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pt-BR" sz="1100" b="1" dirty="0" err="1">
                <a:solidFill>
                  <a:srgbClr val="000000"/>
                </a:solidFill>
                <a:latin typeface="Consolas"/>
              </a:rPr>
              <a:t>update</a:t>
            </a:r>
            <a:r>
              <a:rPr lang="pt-BR" sz="1100" b="1" dirty="0">
                <a:solidFill>
                  <a:srgbClr val="000000"/>
                </a:solidFill>
                <a:latin typeface="Consolas"/>
              </a:rPr>
              <a:t>() {</a:t>
            </a:r>
          </a:p>
          <a:p>
            <a:r>
              <a:rPr lang="pt-BR" sz="11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pt-BR" sz="1100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pt-BR" sz="1100" b="1" i="1" dirty="0" err="1">
                <a:solidFill>
                  <a:srgbClr val="0000C0"/>
                </a:solidFill>
                <a:latin typeface="Consolas"/>
              </a:rPr>
              <a:t>out</a:t>
            </a:r>
            <a:r>
              <a:rPr lang="pt-BR" sz="1100" b="1" i="1" dirty="0" err="1">
                <a:solidFill>
                  <a:srgbClr val="000000"/>
                </a:solidFill>
                <a:latin typeface="Consolas"/>
              </a:rPr>
              <a:t>.println</a:t>
            </a:r>
            <a:r>
              <a:rPr lang="pt-BR" sz="1100" b="1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pt-BR" sz="1100" b="1" i="1" dirty="0">
                <a:solidFill>
                  <a:srgbClr val="2A00FF"/>
                </a:solidFill>
                <a:latin typeface="Consolas"/>
              </a:rPr>
              <a:t>"</a:t>
            </a:r>
            <a:r>
              <a:rPr lang="pt-BR" sz="1100" b="1" i="1" dirty="0" err="1">
                <a:solidFill>
                  <a:srgbClr val="2A00FF"/>
                </a:solidFill>
                <a:latin typeface="Consolas"/>
              </a:rPr>
              <a:t>Observer</a:t>
            </a:r>
            <a:r>
              <a:rPr lang="pt-BR" sz="1100" b="1" i="1" dirty="0">
                <a:solidFill>
                  <a:srgbClr val="2A00FF"/>
                </a:solidFill>
                <a:latin typeface="Consolas"/>
              </a:rPr>
              <a:t> recebeu uma atualização. Novo estado: "</a:t>
            </a:r>
            <a:r>
              <a:rPr lang="pt-BR" sz="1100" b="1" i="1" dirty="0">
                <a:solidFill>
                  <a:srgbClr val="000000"/>
                </a:solidFill>
                <a:latin typeface="Consolas"/>
              </a:rPr>
              <a:t> + </a:t>
            </a:r>
            <a:r>
              <a:rPr lang="pt-BR" sz="1100" b="1" i="1" dirty="0" err="1">
                <a:solidFill>
                  <a:srgbClr val="0000C0"/>
                </a:solidFill>
                <a:latin typeface="Consolas"/>
              </a:rPr>
              <a:t>subject</a:t>
            </a:r>
            <a:r>
              <a:rPr lang="pt-BR" sz="1100" b="1" i="1" dirty="0" err="1">
                <a:solidFill>
                  <a:srgbClr val="000000"/>
                </a:solidFill>
                <a:latin typeface="Consolas"/>
              </a:rPr>
              <a:t>.getState</a:t>
            </a:r>
            <a:r>
              <a:rPr lang="pt-BR" sz="1100" b="1" i="1" dirty="0">
                <a:solidFill>
                  <a:srgbClr val="000000"/>
                </a:solidFill>
                <a:latin typeface="Consolas"/>
              </a:rPr>
              <a:t>());</a:t>
            </a:r>
          </a:p>
          <a:p>
            <a:r>
              <a:rPr lang="pt-BR" sz="11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r>
              <a:rPr lang="pt-BR" sz="1100" dirty="0">
                <a:solidFill>
                  <a:srgbClr val="000000"/>
                </a:solidFill>
                <a:latin typeface="Consolas"/>
              </a:rPr>
              <a:t>}</a:t>
            </a:r>
            <a:endParaRPr lang="pt-BR" sz="1100" dirty="0"/>
          </a:p>
        </p:txBody>
      </p:sp>
      <p:cxnSp>
        <p:nvCxnSpPr>
          <p:cNvPr id="15" name="Conector reto 14"/>
          <p:cNvCxnSpPr/>
          <p:nvPr/>
        </p:nvCxnSpPr>
        <p:spPr>
          <a:xfrm>
            <a:off x="4729654" y="3920969"/>
            <a:ext cx="673187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aixaDeTexto 13"/>
          <p:cNvSpPr txBox="1"/>
          <p:nvPr/>
        </p:nvSpPr>
        <p:spPr>
          <a:xfrm>
            <a:off x="4729653" y="4184272"/>
            <a:ext cx="6452407" cy="25160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50" b="1" dirty="0" err="1">
                <a:solidFill>
                  <a:srgbClr val="7F0055"/>
                </a:solidFill>
                <a:latin typeface="Consolas"/>
              </a:rPr>
              <a:t>package</a:t>
            </a:r>
            <a:r>
              <a:rPr lang="pt-BR" sz="105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pt-BR" sz="1050" b="1" dirty="0" err="1">
                <a:solidFill>
                  <a:srgbClr val="000000"/>
                </a:solidFill>
                <a:latin typeface="Consolas"/>
              </a:rPr>
              <a:t>Observer</a:t>
            </a:r>
            <a:r>
              <a:rPr lang="pt-BR" sz="1050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endParaRPr lang="pt-BR" sz="1050" dirty="0">
              <a:latin typeface="Consolas"/>
            </a:endParaRPr>
          </a:p>
          <a:p>
            <a:r>
              <a:rPr lang="pt-BR" sz="1050" b="1" dirty="0" err="1">
                <a:solidFill>
                  <a:srgbClr val="7F0055"/>
                </a:solidFill>
                <a:latin typeface="Consolas"/>
              </a:rPr>
              <a:t>public</a:t>
            </a:r>
            <a:r>
              <a:rPr lang="pt-BR" sz="105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pt-BR" sz="1050" b="1" dirty="0" err="1">
                <a:solidFill>
                  <a:srgbClr val="7F0055"/>
                </a:solidFill>
                <a:latin typeface="Consolas"/>
              </a:rPr>
              <a:t>class</a:t>
            </a:r>
            <a:r>
              <a:rPr lang="pt-BR" sz="105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pt-BR" sz="1050" b="1" dirty="0" err="1">
                <a:solidFill>
                  <a:srgbClr val="000000"/>
                </a:solidFill>
                <a:latin typeface="Consolas"/>
              </a:rPr>
              <a:t>consumidor_do_observer</a:t>
            </a:r>
            <a:r>
              <a:rPr lang="pt-BR" sz="1050" b="1" dirty="0">
                <a:solidFill>
                  <a:srgbClr val="000000"/>
                </a:solidFill>
                <a:latin typeface="Consolas"/>
              </a:rPr>
              <a:t> {</a:t>
            </a:r>
          </a:p>
          <a:p>
            <a:r>
              <a:rPr lang="en-US" sz="105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en-US" sz="1050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US" sz="105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50" b="1" dirty="0">
                <a:solidFill>
                  <a:srgbClr val="7F0055"/>
                </a:solidFill>
                <a:latin typeface="Consolas"/>
              </a:rPr>
              <a:t>static</a:t>
            </a:r>
            <a:r>
              <a:rPr lang="en-US" sz="105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050" b="1" dirty="0">
                <a:solidFill>
                  <a:srgbClr val="7F0055"/>
                </a:solidFill>
                <a:latin typeface="Consolas"/>
              </a:rPr>
              <a:t>void</a:t>
            </a:r>
            <a:r>
              <a:rPr lang="en-US" sz="1050" b="1" dirty="0">
                <a:solidFill>
                  <a:srgbClr val="000000"/>
                </a:solidFill>
                <a:latin typeface="Consolas"/>
              </a:rPr>
              <a:t> main(String[] </a:t>
            </a:r>
            <a:r>
              <a:rPr lang="en-US" sz="1050" b="1" dirty="0" err="1">
                <a:solidFill>
                  <a:srgbClr val="6A3E3E"/>
                </a:solidFill>
                <a:latin typeface="Consolas"/>
              </a:rPr>
              <a:t>args</a:t>
            </a:r>
            <a:r>
              <a:rPr lang="en-US" sz="1050" b="1" dirty="0">
                <a:solidFill>
                  <a:srgbClr val="000000"/>
                </a:solidFill>
                <a:latin typeface="Consolas"/>
              </a:rPr>
              <a:t>) {</a:t>
            </a:r>
          </a:p>
          <a:p>
            <a:r>
              <a:rPr lang="pt-BR" sz="105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pt-BR" sz="1050" dirty="0" err="1">
                <a:solidFill>
                  <a:srgbClr val="000000"/>
                </a:solidFill>
                <a:latin typeface="Consolas"/>
              </a:rPr>
              <a:t>Subject</a:t>
            </a:r>
            <a:r>
              <a:rPr lang="pt-BR" sz="105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pt-BR" sz="1050" dirty="0">
                <a:solidFill>
                  <a:srgbClr val="6A3E3E"/>
                </a:solidFill>
                <a:latin typeface="Consolas"/>
              </a:rPr>
              <a:t>observado</a:t>
            </a:r>
            <a:r>
              <a:rPr lang="pt-BR" sz="105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pt-BR" sz="1050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pt-BR" sz="105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pt-BR" sz="1050" b="1" dirty="0" err="1">
                <a:solidFill>
                  <a:srgbClr val="000000"/>
                </a:solidFill>
                <a:latin typeface="Consolas"/>
              </a:rPr>
              <a:t>Subject</a:t>
            </a:r>
            <a:r>
              <a:rPr lang="pt-BR" sz="1050" b="1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r>
              <a:rPr lang="pt-BR" sz="105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pt-BR" sz="1050" dirty="0" err="1">
                <a:solidFill>
                  <a:srgbClr val="000000"/>
                </a:solidFill>
                <a:latin typeface="Consolas"/>
              </a:rPr>
              <a:t>ConcreteObserver</a:t>
            </a:r>
            <a:r>
              <a:rPr lang="pt-BR" sz="105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pt-BR" sz="1050" u="sng" dirty="0">
                <a:solidFill>
                  <a:srgbClr val="6A3E3E"/>
                </a:solidFill>
                <a:latin typeface="Consolas"/>
              </a:rPr>
              <a:t>obervador1</a:t>
            </a:r>
            <a:r>
              <a:rPr lang="pt-BR" sz="1050" u="sng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pt-BR" sz="1050" b="1" u="sng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pt-BR" sz="1050" b="1" u="sng" dirty="0">
                <a:solidFill>
                  <a:srgbClr val="000000"/>
                </a:solidFill>
                <a:latin typeface="Consolas"/>
              </a:rPr>
              <a:t> </a:t>
            </a:r>
            <a:r>
              <a:rPr lang="pt-BR" sz="1050" b="1" u="sng" dirty="0" err="1">
                <a:solidFill>
                  <a:srgbClr val="000000"/>
                </a:solidFill>
                <a:latin typeface="Consolas"/>
              </a:rPr>
              <a:t>ConcreteObserver</a:t>
            </a:r>
            <a:r>
              <a:rPr lang="pt-BR" sz="1050" b="1" u="sng" dirty="0">
                <a:solidFill>
                  <a:srgbClr val="000000"/>
                </a:solidFill>
                <a:latin typeface="Consolas"/>
              </a:rPr>
              <a:t>(</a:t>
            </a:r>
            <a:r>
              <a:rPr lang="pt-BR" sz="1050" b="1" u="sng" dirty="0">
                <a:solidFill>
                  <a:srgbClr val="6A3E3E"/>
                </a:solidFill>
                <a:latin typeface="Consolas"/>
              </a:rPr>
              <a:t>observado</a:t>
            </a:r>
            <a:r>
              <a:rPr lang="pt-BR" sz="1050" b="1" u="sng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pt-BR" sz="105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pt-BR" sz="1050" dirty="0" err="1">
                <a:solidFill>
                  <a:srgbClr val="000000"/>
                </a:solidFill>
                <a:latin typeface="Consolas"/>
              </a:rPr>
              <a:t>ConcreteObserver</a:t>
            </a:r>
            <a:r>
              <a:rPr lang="pt-BR" sz="105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pt-BR" sz="1050" u="sng" dirty="0">
                <a:solidFill>
                  <a:srgbClr val="6A3E3E"/>
                </a:solidFill>
                <a:latin typeface="Consolas"/>
              </a:rPr>
              <a:t>obervador2</a:t>
            </a:r>
            <a:r>
              <a:rPr lang="pt-BR" sz="1050" u="sng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pt-BR" sz="1050" b="1" u="sng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pt-BR" sz="1050" b="1" u="sng" dirty="0">
                <a:solidFill>
                  <a:srgbClr val="000000"/>
                </a:solidFill>
                <a:latin typeface="Consolas"/>
              </a:rPr>
              <a:t> </a:t>
            </a:r>
            <a:r>
              <a:rPr lang="pt-BR" sz="1050" b="1" u="sng" dirty="0" err="1">
                <a:solidFill>
                  <a:srgbClr val="000000"/>
                </a:solidFill>
                <a:latin typeface="Consolas"/>
              </a:rPr>
              <a:t>ConcreteObserver</a:t>
            </a:r>
            <a:r>
              <a:rPr lang="pt-BR" sz="1050" b="1" u="sng" dirty="0">
                <a:solidFill>
                  <a:srgbClr val="000000"/>
                </a:solidFill>
                <a:latin typeface="Consolas"/>
              </a:rPr>
              <a:t>(</a:t>
            </a:r>
            <a:r>
              <a:rPr lang="pt-BR" sz="1050" b="1" u="sng" dirty="0">
                <a:solidFill>
                  <a:srgbClr val="6A3E3E"/>
                </a:solidFill>
                <a:latin typeface="Consolas"/>
              </a:rPr>
              <a:t>observado</a:t>
            </a:r>
            <a:r>
              <a:rPr lang="pt-BR" sz="1050" b="1" u="sng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pt-BR" sz="105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pt-BR" sz="1050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pt-BR" sz="1050" b="1" i="1" dirty="0" err="1">
                <a:solidFill>
                  <a:srgbClr val="0000C0"/>
                </a:solidFill>
                <a:latin typeface="Consolas"/>
              </a:rPr>
              <a:t>out</a:t>
            </a:r>
            <a:r>
              <a:rPr lang="pt-BR" sz="1050" b="1" i="1" dirty="0" err="1">
                <a:solidFill>
                  <a:srgbClr val="000000"/>
                </a:solidFill>
                <a:latin typeface="Consolas"/>
              </a:rPr>
              <a:t>.println</a:t>
            </a:r>
            <a:r>
              <a:rPr lang="pt-BR" sz="1050" b="1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pt-BR" sz="1050" b="1" i="1" dirty="0">
                <a:solidFill>
                  <a:srgbClr val="2A00FF"/>
                </a:solidFill>
                <a:latin typeface="Consolas"/>
              </a:rPr>
              <a:t>"Antes de atualizar o estado do observado"</a:t>
            </a:r>
            <a:r>
              <a:rPr lang="pt-BR" sz="1050" b="1" i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pt-BR" sz="105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pt-BR" sz="1050" dirty="0" err="1">
                <a:solidFill>
                  <a:srgbClr val="6A3E3E"/>
                </a:solidFill>
                <a:latin typeface="Consolas"/>
              </a:rPr>
              <a:t>observado</a:t>
            </a:r>
            <a:r>
              <a:rPr lang="pt-BR" sz="1050" dirty="0" err="1">
                <a:solidFill>
                  <a:srgbClr val="000000"/>
                </a:solidFill>
                <a:latin typeface="Consolas"/>
              </a:rPr>
              <a:t>.setState</a:t>
            </a:r>
            <a:r>
              <a:rPr lang="pt-BR" sz="1050" dirty="0">
                <a:solidFill>
                  <a:srgbClr val="000000"/>
                </a:solidFill>
                <a:latin typeface="Consolas"/>
              </a:rPr>
              <a:t>(10);</a:t>
            </a:r>
          </a:p>
          <a:p>
            <a:r>
              <a:rPr lang="pt-BR" sz="105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pt-BR" sz="1050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pt-BR" sz="1050" b="1" i="1" dirty="0" err="1">
                <a:solidFill>
                  <a:srgbClr val="0000C0"/>
                </a:solidFill>
                <a:latin typeface="Consolas"/>
              </a:rPr>
              <a:t>out</a:t>
            </a:r>
            <a:r>
              <a:rPr lang="pt-BR" sz="1050" b="1" i="1" dirty="0" err="1">
                <a:solidFill>
                  <a:srgbClr val="000000"/>
                </a:solidFill>
                <a:latin typeface="Consolas"/>
              </a:rPr>
              <a:t>.println</a:t>
            </a:r>
            <a:r>
              <a:rPr lang="pt-BR" sz="1050" b="1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pt-BR" sz="1050" b="1" i="1" dirty="0">
                <a:solidFill>
                  <a:srgbClr val="2A00FF"/>
                </a:solidFill>
                <a:latin typeface="Consolas"/>
              </a:rPr>
              <a:t>"Depois de atualizar o estado do observado"</a:t>
            </a:r>
            <a:r>
              <a:rPr lang="pt-BR" sz="1050" b="1" i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pt-BR" sz="105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pt-BR" sz="1050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pt-BR" sz="1050" b="1" i="1" dirty="0" err="1">
                <a:solidFill>
                  <a:srgbClr val="0000C0"/>
                </a:solidFill>
                <a:latin typeface="Consolas"/>
              </a:rPr>
              <a:t>out</a:t>
            </a:r>
            <a:r>
              <a:rPr lang="pt-BR" sz="1050" b="1" i="1" dirty="0" err="1">
                <a:solidFill>
                  <a:srgbClr val="000000"/>
                </a:solidFill>
                <a:latin typeface="Consolas"/>
              </a:rPr>
              <a:t>.println</a:t>
            </a:r>
            <a:r>
              <a:rPr lang="pt-BR" sz="1050" b="1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pt-BR" sz="1050" b="1" i="1" dirty="0">
                <a:solidFill>
                  <a:srgbClr val="2A00FF"/>
                </a:solidFill>
                <a:latin typeface="Consolas"/>
              </a:rPr>
              <a:t>"Antes de nova atualização o estado do observado"</a:t>
            </a:r>
            <a:r>
              <a:rPr lang="pt-BR" sz="1050" b="1" i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pt-BR" sz="105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pt-BR" sz="1050" dirty="0" err="1">
                <a:solidFill>
                  <a:srgbClr val="6A3E3E"/>
                </a:solidFill>
                <a:latin typeface="Consolas"/>
              </a:rPr>
              <a:t>observado</a:t>
            </a:r>
            <a:r>
              <a:rPr lang="pt-BR" sz="1050" dirty="0" err="1">
                <a:solidFill>
                  <a:srgbClr val="000000"/>
                </a:solidFill>
                <a:latin typeface="Consolas"/>
              </a:rPr>
              <a:t>.setState</a:t>
            </a:r>
            <a:r>
              <a:rPr lang="pt-BR" sz="1050" dirty="0">
                <a:solidFill>
                  <a:srgbClr val="000000"/>
                </a:solidFill>
                <a:latin typeface="Consolas"/>
              </a:rPr>
              <a:t>(20);</a:t>
            </a:r>
          </a:p>
          <a:p>
            <a:r>
              <a:rPr lang="pt-BR" sz="1050" dirty="0">
                <a:solidFill>
                  <a:srgbClr val="000000"/>
                </a:solidFill>
                <a:latin typeface="Consolas"/>
              </a:rPr>
              <a:t>    </a:t>
            </a:r>
            <a:r>
              <a:rPr lang="pt-BR" sz="1050" dirty="0" err="1">
                <a:solidFill>
                  <a:srgbClr val="000000"/>
                </a:solidFill>
                <a:latin typeface="Consolas"/>
              </a:rPr>
              <a:t>System.</a:t>
            </a:r>
            <a:r>
              <a:rPr lang="pt-BR" sz="1050" b="1" i="1" dirty="0" err="1">
                <a:solidFill>
                  <a:srgbClr val="0000C0"/>
                </a:solidFill>
                <a:latin typeface="Consolas"/>
              </a:rPr>
              <a:t>out</a:t>
            </a:r>
            <a:r>
              <a:rPr lang="pt-BR" sz="1050" b="1" i="1" dirty="0" err="1">
                <a:solidFill>
                  <a:srgbClr val="000000"/>
                </a:solidFill>
                <a:latin typeface="Consolas"/>
              </a:rPr>
              <a:t>.println</a:t>
            </a:r>
            <a:r>
              <a:rPr lang="pt-BR" sz="1050" b="1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pt-BR" sz="1050" b="1" i="1" dirty="0">
                <a:solidFill>
                  <a:srgbClr val="2A00FF"/>
                </a:solidFill>
                <a:latin typeface="Consolas"/>
              </a:rPr>
              <a:t>"Depois de atualizar pela segunda vez o estado do observado"</a:t>
            </a:r>
            <a:r>
              <a:rPr lang="pt-BR" sz="1050" b="1" i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pt-BR" sz="1050" dirty="0">
                <a:solidFill>
                  <a:srgbClr val="000000"/>
                </a:solidFill>
                <a:latin typeface="Consolas"/>
              </a:rPr>
              <a:t>    }</a:t>
            </a:r>
          </a:p>
          <a:p>
            <a:r>
              <a:rPr lang="pt-BR" sz="1050" dirty="0">
                <a:solidFill>
                  <a:srgbClr val="000000"/>
                </a:solidFill>
                <a:latin typeface="Consolas"/>
              </a:rPr>
              <a:t>}</a:t>
            </a:r>
            <a:endParaRPr lang="pt-BR" sz="1050" dirty="0"/>
          </a:p>
        </p:txBody>
      </p:sp>
    </p:spTree>
    <p:extLst>
      <p:ext uri="{BB962C8B-B14F-4D97-AF65-F5344CB8AC3E}">
        <p14:creationId xmlns:p14="http://schemas.microsoft.com/office/powerpoint/2010/main" val="1474798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FC993B83-8AD9-B33E-5852-4D85B8D51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3198"/>
            <a:ext cx="10515600" cy="64258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Decorator</a:t>
            </a:r>
            <a:endParaRPr lang="pt-BR" dirty="0"/>
          </a:p>
        </p:txBody>
      </p:sp>
      <p:sp>
        <p:nvSpPr>
          <p:cNvPr id="3" name="CaixaDeTexto 2"/>
          <p:cNvSpPr txBox="1"/>
          <p:nvPr/>
        </p:nvSpPr>
        <p:spPr>
          <a:xfrm>
            <a:off x="898634" y="1024758"/>
            <a:ext cx="9963807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O padrão </a:t>
            </a:r>
            <a:r>
              <a:rPr lang="pt-BR" b="1" i="1" dirty="0" err="1" smtClean="0"/>
              <a:t>Decorator</a:t>
            </a:r>
            <a:r>
              <a:rPr lang="pt-BR" dirty="0" smtClean="0"/>
              <a:t>, é um padrão estrutural, utilizado para adicionar responsabilidades adicionais a objetos de forma dinâmica, sem que seja necessário alterar sua estrutura. </a:t>
            </a:r>
          </a:p>
          <a:p>
            <a:endParaRPr lang="pt-BR" dirty="0"/>
          </a:p>
          <a:p>
            <a:r>
              <a:rPr lang="pt-BR" sz="1400" dirty="0"/>
              <a:t>A ideia principal do </a:t>
            </a:r>
            <a:r>
              <a:rPr lang="pt-BR" sz="1400" b="1" i="1" dirty="0" err="1" smtClean="0"/>
              <a:t>Decorator</a:t>
            </a:r>
            <a:r>
              <a:rPr lang="pt-BR" sz="1400" b="1" i="1" dirty="0" smtClean="0"/>
              <a:t> </a:t>
            </a:r>
            <a:r>
              <a:rPr lang="pt-BR" sz="1400" dirty="0"/>
              <a:t>é criar uma série de classes de decoração que envolvem o objeto original. Cada classe de decoração adiciona funcionalidades adicionais ao objeto, tornando-o composto por várias camadas de decoração. Isso permite que você adicione ou remova responsabilidades sem modificar o código do objeto original.</a:t>
            </a:r>
          </a:p>
          <a:p>
            <a:endParaRPr lang="pt-BR" sz="1400" dirty="0"/>
          </a:p>
          <a:p>
            <a:r>
              <a:rPr lang="pt-BR" sz="1400" dirty="0" smtClean="0"/>
              <a:t>O </a:t>
            </a:r>
            <a:r>
              <a:rPr lang="pt-BR" sz="1400" b="1" i="1" dirty="0" err="1"/>
              <a:t>D</a:t>
            </a:r>
            <a:r>
              <a:rPr lang="pt-BR" sz="1400" b="1" i="1" dirty="0" err="1" smtClean="0"/>
              <a:t>ecorator</a:t>
            </a:r>
            <a:r>
              <a:rPr lang="pt-BR" sz="1400" b="1" i="1" dirty="0" smtClean="0"/>
              <a:t> </a:t>
            </a:r>
            <a:r>
              <a:rPr lang="pt-BR" sz="1400" dirty="0" smtClean="0"/>
              <a:t> possui os seguintes componentes:</a:t>
            </a:r>
            <a:endParaRPr lang="pt-BR" sz="1400" dirty="0"/>
          </a:p>
          <a:p>
            <a:endParaRPr lang="pt-BR" sz="1400" dirty="0"/>
          </a:p>
          <a:p>
            <a:r>
              <a:rPr lang="pt-BR" sz="1400" dirty="0"/>
              <a:t>1. </a:t>
            </a:r>
            <a:r>
              <a:rPr lang="pt-BR" sz="1400" dirty="0" smtClean="0"/>
              <a:t>Componente </a:t>
            </a:r>
            <a:r>
              <a:rPr lang="pt-BR" sz="1400" dirty="0"/>
              <a:t>Abstrato (</a:t>
            </a:r>
            <a:r>
              <a:rPr lang="pt-BR" sz="1100" i="1" dirty="0" err="1"/>
              <a:t>Component</a:t>
            </a:r>
            <a:r>
              <a:rPr lang="pt-BR" sz="1400" dirty="0" smtClean="0"/>
              <a:t>) : </a:t>
            </a:r>
            <a:r>
              <a:rPr lang="pt-BR" sz="1400" dirty="0"/>
              <a:t>Define a interface comum para todos os objetos que podem ser decorados. É a classe base que pode ser estendida com funcionalidades adicionais.</a:t>
            </a:r>
          </a:p>
          <a:p>
            <a:endParaRPr lang="pt-BR" sz="1400" dirty="0"/>
          </a:p>
          <a:p>
            <a:r>
              <a:rPr lang="pt-BR" sz="1400" dirty="0"/>
              <a:t>2. </a:t>
            </a:r>
            <a:r>
              <a:rPr lang="pt-BR" sz="1400" dirty="0" smtClean="0"/>
              <a:t>Componente </a:t>
            </a:r>
            <a:r>
              <a:rPr lang="pt-BR" sz="1400" dirty="0"/>
              <a:t>Concreto (</a:t>
            </a:r>
            <a:r>
              <a:rPr lang="pt-BR" sz="1100" i="1" dirty="0" err="1"/>
              <a:t>ConcreteComponent</a:t>
            </a:r>
            <a:r>
              <a:rPr lang="pt-BR" sz="1400" dirty="0" smtClean="0"/>
              <a:t>): </a:t>
            </a:r>
            <a:r>
              <a:rPr lang="pt-BR" sz="1400" dirty="0"/>
              <a:t>Implementa a interface do Componente Abstrato e define a classe de objeto original que pode ser decorada.</a:t>
            </a:r>
          </a:p>
          <a:p>
            <a:endParaRPr lang="pt-BR" sz="1400" dirty="0"/>
          </a:p>
          <a:p>
            <a:r>
              <a:rPr lang="pt-BR" sz="1400" dirty="0"/>
              <a:t>3. </a:t>
            </a:r>
            <a:r>
              <a:rPr lang="pt-BR" sz="1400" dirty="0" smtClean="0"/>
              <a:t>Decorador </a:t>
            </a:r>
            <a:r>
              <a:rPr lang="pt-BR" sz="1400" dirty="0"/>
              <a:t>Abstrato (</a:t>
            </a:r>
            <a:r>
              <a:rPr lang="pt-BR" sz="1100" i="1" dirty="0" err="1"/>
              <a:t>Decorator</a:t>
            </a:r>
            <a:r>
              <a:rPr lang="pt-BR" sz="1400" dirty="0" smtClean="0"/>
              <a:t>) : </a:t>
            </a:r>
            <a:r>
              <a:rPr lang="pt-BR" sz="1400" dirty="0"/>
              <a:t>É a classe abstrata que herda do Componente Abstrato e mantém uma referência a um objeto Componente. Essa classe define uma interface para todas as classes de decoração concretas.</a:t>
            </a:r>
          </a:p>
          <a:p>
            <a:endParaRPr lang="pt-BR" sz="1400" dirty="0"/>
          </a:p>
          <a:p>
            <a:r>
              <a:rPr lang="pt-BR" sz="1400" dirty="0"/>
              <a:t>4. </a:t>
            </a:r>
            <a:r>
              <a:rPr lang="pt-BR" sz="1400" dirty="0" smtClean="0"/>
              <a:t>Decorador </a:t>
            </a:r>
            <a:r>
              <a:rPr lang="pt-BR" sz="1400" dirty="0"/>
              <a:t>Concreto (</a:t>
            </a:r>
            <a:r>
              <a:rPr lang="pt-BR" sz="1100" i="1" dirty="0" err="1"/>
              <a:t>ConcreteDecorator</a:t>
            </a:r>
            <a:r>
              <a:rPr lang="pt-BR" sz="1400" dirty="0" smtClean="0"/>
              <a:t>) : </a:t>
            </a:r>
            <a:r>
              <a:rPr lang="pt-BR" sz="1400" dirty="0"/>
              <a:t>Implementa o Decorador Abstrato e adiciona funcionalidades adicionais ao objeto Componente. Ela também pode chamar as operações do objeto Componente antes ou depois de adicionar sua funcionalidade.</a:t>
            </a:r>
          </a:p>
          <a:p>
            <a:endParaRPr lang="pt-BR" sz="1400" dirty="0"/>
          </a:p>
          <a:p>
            <a:r>
              <a:rPr lang="pt-BR" sz="1400" dirty="0"/>
              <a:t>O padrão </a:t>
            </a:r>
            <a:r>
              <a:rPr lang="pt-BR" sz="1400" dirty="0" err="1"/>
              <a:t>Decorator</a:t>
            </a:r>
            <a:r>
              <a:rPr lang="pt-BR" sz="1400" dirty="0"/>
              <a:t> é útil </a:t>
            </a:r>
            <a:r>
              <a:rPr lang="pt-BR" sz="1400" dirty="0" smtClean="0"/>
              <a:t>há </a:t>
            </a:r>
            <a:r>
              <a:rPr lang="pt-BR" sz="1400" dirty="0"/>
              <a:t>um conjunto de classes com comportamento semelhante, mas </a:t>
            </a:r>
            <a:r>
              <a:rPr lang="pt-BR" sz="1400" dirty="0" smtClean="0"/>
              <a:t>deseja-se </a:t>
            </a:r>
            <a:r>
              <a:rPr lang="pt-BR" sz="1400" dirty="0"/>
              <a:t>adicionar variações específicas a cada uma delas sem criar uma explosão de subclasses. Ele promove o princípio aberto/fechado, permitindo </a:t>
            </a:r>
            <a:r>
              <a:rPr lang="pt-BR" sz="1400" dirty="0" smtClean="0"/>
              <a:t>a adição de </a:t>
            </a:r>
            <a:r>
              <a:rPr lang="pt-BR" sz="1400" dirty="0"/>
              <a:t>novas funcionalidades sem modificar o código existente</a:t>
            </a:r>
            <a:r>
              <a:rPr lang="pt-BR" sz="1400" dirty="0" smtClean="0"/>
              <a:t>.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2802552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FC993B83-8AD9-B33E-5852-4D85B8D51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3198"/>
            <a:ext cx="10515600" cy="64258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Decorator</a:t>
            </a:r>
            <a:endParaRPr lang="pt-B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5834" y="651863"/>
            <a:ext cx="10074166" cy="59051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86932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FC993B83-8AD9-B33E-5852-4D85B8D51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3198"/>
            <a:ext cx="10515600" cy="64258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Decorator - </a:t>
            </a:r>
            <a:r>
              <a:rPr lang="en-US" sz="2700" dirty="0" err="1" smtClean="0"/>
              <a:t>exemplo</a:t>
            </a:r>
            <a:endParaRPr lang="pt-BR" dirty="0"/>
          </a:p>
        </p:txBody>
      </p:sp>
      <p:sp>
        <p:nvSpPr>
          <p:cNvPr id="5" name="Retângulo 4"/>
          <p:cNvSpPr/>
          <p:nvPr/>
        </p:nvSpPr>
        <p:spPr>
          <a:xfrm>
            <a:off x="3284482" y="782708"/>
            <a:ext cx="6096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200" dirty="0">
                <a:solidFill>
                  <a:srgbClr val="3F7F5F"/>
                </a:solidFill>
                <a:latin typeface="Consolas"/>
              </a:rPr>
              <a:t>//</a:t>
            </a:r>
            <a:r>
              <a:rPr lang="pt-BR" sz="1200" u="sng" dirty="0">
                <a:solidFill>
                  <a:srgbClr val="3F7F5F"/>
                </a:solidFill>
                <a:latin typeface="Consolas"/>
              </a:rPr>
              <a:t>Componente abstrato</a:t>
            </a:r>
          </a:p>
          <a:p>
            <a:r>
              <a:rPr lang="pt-BR" sz="1200" b="1" dirty="0" err="1">
                <a:solidFill>
                  <a:srgbClr val="7F0055"/>
                </a:solidFill>
                <a:latin typeface="Consolas"/>
              </a:rPr>
              <a:t>public</a:t>
            </a:r>
            <a:r>
              <a:rPr lang="pt-BR" sz="12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pt-BR" sz="1200" b="1" dirty="0">
                <a:solidFill>
                  <a:srgbClr val="7F0055"/>
                </a:solidFill>
                <a:latin typeface="Consolas"/>
              </a:rPr>
              <a:t>interface</a:t>
            </a:r>
            <a:r>
              <a:rPr lang="pt-BR" sz="12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pt-BR" sz="1200" b="1" dirty="0" err="1">
                <a:solidFill>
                  <a:srgbClr val="000000"/>
                </a:solidFill>
                <a:latin typeface="Consolas"/>
              </a:rPr>
              <a:t>iBebida</a:t>
            </a:r>
            <a:r>
              <a:rPr lang="pt-BR" sz="1200" b="1" dirty="0">
                <a:solidFill>
                  <a:srgbClr val="000000"/>
                </a:solidFill>
                <a:latin typeface="Consolas"/>
              </a:rPr>
              <a:t> {</a:t>
            </a:r>
          </a:p>
          <a:p>
            <a:r>
              <a:rPr lang="pt-BR" sz="1200" b="1" dirty="0" smtClean="0">
                <a:solidFill>
                  <a:srgbClr val="7F0055"/>
                </a:solidFill>
                <a:latin typeface="Consolas"/>
              </a:rPr>
              <a:t>  </a:t>
            </a:r>
            <a:r>
              <a:rPr lang="pt-BR" sz="1200" b="1" dirty="0" err="1" smtClean="0">
                <a:solidFill>
                  <a:srgbClr val="7F0055"/>
                </a:solidFill>
                <a:latin typeface="Consolas"/>
              </a:rPr>
              <a:t>public</a:t>
            </a:r>
            <a:r>
              <a:rPr lang="pt-BR" sz="1200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pt-BR" sz="1200" b="1" dirty="0" err="1">
                <a:solidFill>
                  <a:srgbClr val="000000"/>
                </a:solidFill>
                <a:latin typeface="Consolas"/>
              </a:rPr>
              <a:t>String</a:t>
            </a:r>
            <a:r>
              <a:rPr lang="pt-BR" sz="12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pt-BR" sz="1200" b="1" dirty="0" err="1">
                <a:solidFill>
                  <a:srgbClr val="000000"/>
                </a:solidFill>
                <a:latin typeface="Consolas"/>
              </a:rPr>
              <a:t>Descricao</a:t>
            </a:r>
            <a:r>
              <a:rPr lang="pt-BR" sz="1200" b="1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r>
              <a:rPr lang="pt-BR" sz="1200" b="1" dirty="0" smtClean="0">
                <a:solidFill>
                  <a:srgbClr val="7F0055"/>
                </a:solidFill>
                <a:latin typeface="Consolas"/>
              </a:rPr>
              <a:t>  </a:t>
            </a:r>
            <a:r>
              <a:rPr lang="pt-BR" sz="1200" b="1" dirty="0" err="1" smtClean="0">
                <a:solidFill>
                  <a:srgbClr val="7F0055"/>
                </a:solidFill>
                <a:latin typeface="Consolas"/>
              </a:rPr>
              <a:t>public</a:t>
            </a:r>
            <a:r>
              <a:rPr lang="pt-BR" sz="1200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pt-BR" sz="1200" b="1" dirty="0" err="1">
                <a:solidFill>
                  <a:srgbClr val="7F0055"/>
                </a:solidFill>
                <a:latin typeface="Consolas"/>
              </a:rPr>
              <a:t>double</a:t>
            </a:r>
            <a:r>
              <a:rPr lang="pt-BR" sz="12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pt-BR" sz="1200" b="1" dirty="0" err="1">
                <a:solidFill>
                  <a:srgbClr val="000000"/>
                </a:solidFill>
                <a:latin typeface="Consolas"/>
              </a:rPr>
              <a:t>Preco</a:t>
            </a:r>
            <a:r>
              <a:rPr lang="pt-BR" sz="1200" b="1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r>
              <a:rPr lang="pt-BR" sz="1200" dirty="0">
                <a:solidFill>
                  <a:srgbClr val="000000"/>
                </a:solidFill>
                <a:latin typeface="Consolas"/>
              </a:rPr>
              <a:t>}</a:t>
            </a:r>
            <a:endParaRPr lang="pt-BR" sz="1200" dirty="0"/>
          </a:p>
        </p:txBody>
      </p:sp>
      <p:sp>
        <p:nvSpPr>
          <p:cNvPr id="7" name="Retângulo 6"/>
          <p:cNvSpPr/>
          <p:nvPr/>
        </p:nvSpPr>
        <p:spPr>
          <a:xfrm>
            <a:off x="3284482" y="1835691"/>
            <a:ext cx="6096000" cy="249299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200" dirty="0">
                <a:solidFill>
                  <a:srgbClr val="3F7F5F"/>
                </a:solidFill>
                <a:latin typeface="Consolas"/>
              </a:rPr>
              <a:t>//</a:t>
            </a:r>
            <a:r>
              <a:rPr lang="pt-BR" sz="1200" u="sng" dirty="0">
                <a:solidFill>
                  <a:srgbClr val="3F7F5F"/>
                </a:solidFill>
                <a:latin typeface="Consolas"/>
              </a:rPr>
              <a:t>Componentes concreto</a:t>
            </a:r>
          </a:p>
          <a:p>
            <a:r>
              <a:rPr lang="en-US" sz="1200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US" sz="12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b="1" dirty="0">
                <a:solidFill>
                  <a:srgbClr val="7F0055"/>
                </a:solidFill>
                <a:latin typeface="Consolas"/>
              </a:rPr>
              <a:t>class</a:t>
            </a:r>
            <a:r>
              <a:rPr lang="en-US" sz="1200" b="1" dirty="0">
                <a:solidFill>
                  <a:srgbClr val="000000"/>
                </a:solidFill>
                <a:latin typeface="Consolas"/>
              </a:rPr>
              <a:t> Cafe </a:t>
            </a:r>
            <a:r>
              <a:rPr lang="en-US" sz="1200" b="1" dirty="0">
                <a:solidFill>
                  <a:srgbClr val="7F0055"/>
                </a:solidFill>
                <a:latin typeface="Consolas"/>
              </a:rPr>
              <a:t>implements</a:t>
            </a:r>
            <a:r>
              <a:rPr lang="en-US" sz="12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Consolas"/>
              </a:rPr>
              <a:t>iBebida</a:t>
            </a:r>
            <a:r>
              <a:rPr lang="en-US" sz="1200" b="1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endParaRPr lang="pt-BR" sz="1200" dirty="0">
              <a:latin typeface="Consolas"/>
            </a:endParaRPr>
          </a:p>
          <a:p>
            <a:r>
              <a:rPr lang="pt-BR" sz="1200" dirty="0" smtClean="0">
                <a:solidFill>
                  <a:srgbClr val="646464"/>
                </a:solidFill>
                <a:latin typeface="Consolas"/>
              </a:rPr>
              <a:t>   @</a:t>
            </a:r>
            <a:r>
              <a:rPr lang="pt-BR" sz="1200" dirty="0" err="1">
                <a:solidFill>
                  <a:srgbClr val="646464"/>
                </a:solidFill>
                <a:latin typeface="Consolas"/>
              </a:rPr>
              <a:t>Override</a:t>
            </a:r>
            <a:endParaRPr lang="pt-BR" sz="1200" dirty="0">
              <a:solidFill>
                <a:srgbClr val="646464"/>
              </a:solidFill>
              <a:latin typeface="Consolas"/>
            </a:endParaRPr>
          </a:p>
          <a:p>
            <a:r>
              <a:rPr lang="pt-BR" sz="1200" b="1" dirty="0" smtClean="0">
                <a:solidFill>
                  <a:srgbClr val="7F0055"/>
                </a:solidFill>
                <a:latin typeface="Consolas"/>
              </a:rPr>
              <a:t>   </a:t>
            </a:r>
            <a:r>
              <a:rPr lang="pt-BR" sz="1200" b="1" dirty="0" err="1" smtClean="0">
                <a:solidFill>
                  <a:srgbClr val="7F0055"/>
                </a:solidFill>
                <a:latin typeface="Consolas"/>
              </a:rPr>
              <a:t>public</a:t>
            </a:r>
            <a:r>
              <a:rPr lang="pt-BR" sz="1200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pt-BR" sz="1200" b="1" dirty="0" err="1">
                <a:solidFill>
                  <a:srgbClr val="000000"/>
                </a:solidFill>
                <a:latin typeface="Consolas"/>
              </a:rPr>
              <a:t>String</a:t>
            </a:r>
            <a:r>
              <a:rPr lang="pt-BR" sz="12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pt-BR" sz="1200" b="1" dirty="0" err="1">
                <a:solidFill>
                  <a:srgbClr val="000000"/>
                </a:solidFill>
                <a:latin typeface="Consolas"/>
              </a:rPr>
              <a:t>Descricao</a:t>
            </a:r>
            <a:r>
              <a:rPr lang="pt-BR" sz="1200" b="1" dirty="0">
                <a:solidFill>
                  <a:srgbClr val="000000"/>
                </a:solidFill>
                <a:latin typeface="Consolas"/>
              </a:rPr>
              <a:t>() {</a:t>
            </a:r>
          </a:p>
          <a:p>
            <a:r>
              <a:rPr lang="pt-BR" sz="1200" b="1" dirty="0" smtClean="0">
                <a:solidFill>
                  <a:srgbClr val="7F0055"/>
                </a:solidFill>
                <a:latin typeface="Consolas"/>
              </a:rPr>
              <a:t>      </a:t>
            </a:r>
            <a:r>
              <a:rPr lang="pt-BR" sz="1200" b="1" dirty="0" err="1" smtClean="0">
                <a:solidFill>
                  <a:srgbClr val="7F0055"/>
                </a:solidFill>
                <a:latin typeface="Consolas"/>
              </a:rPr>
              <a:t>return</a:t>
            </a:r>
            <a:r>
              <a:rPr lang="pt-BR" sz="1200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pt-BR" sz="1200" b="1" dirty="0">
                <a:solidFill>
                  <a:srgbClr val="2A00FF"/>
                </a:solidFill>
                <a:latin typeface="Consolas"/>
              </a:rPr>
              <a:t>"Café "</a:t>
            </a:r>
            <a:r>
              <a:rPr lang="pt-BR" sz="1200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pt-BR" sz="1200" dirty="0" smtClean="0">
                <a:solidFill>
                  <a:srgbClr val="000000"/>
                </a:solidFill>
                <a:latin typeface="Consolas"/>
              </a:rPr>
              <a:t>   }</a:t>
            </a:r>
            <a:endParaRPr lang="pt-BR" sz="1200" dirty="0">
              <a:solidFill>
                <a:srgbClr val="000000"/>
              </a:solidFill>
              <a:latin typeface="Consolas"/>
            </a:endParaRPr>
          </a:p>
          <a:p>
            <a:endParaRPr lang="pt-BR" sz="1200" dirty="0">
              <a:latin typeface="Consolas"/>
            </a:endParaRPr>
          </a:p>
          <a:p>
            <a:r>
              <a:rPr lang="pt-BR" sz="1200" dirty="0" smtClean="0">
                <a:solidFill>
                  <a:srgbClr val="646464"/>
                </a:solidFill>
                <a:latin typeface="Consolas"/>
              </a:rPr>
              <a:t>   @</a:t>
            </a:r>
            <a:r>
              <a:rPr lang="pt-BR" sz="1200" dirty="0" err="1">
                <a:solidFill>
                  <a:srgbClr val="646464"/>
                </a:solidFill>
                <a:latin typeface="Consolas"/>
              </a:rPr>
              <a:t>Override</a:t>
            </a:r>
            <a:endParaRPr lang="pt-BR" sz="1200" dirty="0">
              <a:solidFill>
                <a:srgbClr val="646464"/>
              </a:solidFill>
              <a:latin typeface="Consolas"/>
            </a:endParaRPr>
          </a:p>
          <a:p>
            <a:r>
              <a:rPr lang="pt-BR" sz="1200" b="1" dirty="0" smtClean="0">
                <a:solidFill>
                  <a:srgbClr val="7F0055"/>
                </a:solidFill>
                <a:latin typeface="Consolas"/>
              </a:rPr>
              <a:t>   </a:t>
            </a:r>
            <a:r>
              <a:rPr lang="pt-BR" sz="1200" b="1" dirty="0" err="1" smtClean="0">
                <a:solidFill>
                  <a:srgbClr val="7F0055"/>
                </a:solidFill>
                <a:latin typeface="Consolas"/>
              </a:rPr>
              <a:t>public</a:t>
            </a:r>
            <a:r>
              <a:rPr lang="pt-BR" sz="1200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pt-BR" sz="1200" b="1" dirty="0" err="1">
                <a:solidFill>
                  <a:srgbClr val="7F0055"/>
                </a:solidFill>
                <a:latin typeface="Consolas"/>
              </a:rPr>
              <a:t>double</a:t>
            </a:r>
            <a:r>
              <a:rPr lang="pt-BR" sz="12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pt-BR" sz="1200" b="1" dirty="0" err="1">
                <a:solidFill>
                  <a:srgbClr val="000000"/>
                </a:solidFill>
                <a:latin typeface="Consolas"/>
              </a:rPr>
              <a:t>Preco</a:t>
            </a:r>
            <a:r>
              <a:rPr lang="pt-BR" sz="1200" b="1" dirty="0">
                <a:solidFill>
                  <a:srgbClr val="000000"/>
                </a:solidFill>
                <a:latin typeface="Consolas"/>
              </a:rPr>
              <a:t>() {</a:t>
            </a:r>
          </a:p>
          <a:p>
            <a:r>
              <a:rPr lang="pt-BR" sz="1200" b="1" dirty="0" smtClean="0">
                <a:solidFill>
                  <a:srgbClr val="7F0055"/>
                </a:solidFill>
                <a:latin typeface="Consolas"/>
              </a:rPr>
              <a:t>      </a:t>
            </a:r>
            <a:r>
              <a:rPr lang="pt-BR" sz="1200" b="1" dirty="0" err="1" smtClean="0">
                <a:solidFill>
                  <a:srgbClr val="7F0055"/>
                </a:solidFill>
                <a:latin typeface="Consolas"/>
              </a:rPr>
              <a:t>return</a:t>
            </a:r>
            <a:r>
              <a:rPr lang="pt-BR" sz="1200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pt-BR" sz="1200" b="1" dirty="0">
                <a:solidFill>
                  <a:srgbClr val="000000"/>
                </a:solidFill>
                <a:latin typeface="Consolas"/>
              </a:rPr>
              <a:t>3.0;</a:t>
            </a:r>
          </a:p>
          <a:p>
            <a:r>
              <a:rPr lang="pt-BR" sz="1200" dirty="0" smtClean="0">
                <a:solidFill>
                  <a:srgbClr val="000000"/>
                </a:solidFill>
                <a:latin typeface="Consolas"/>
              </a:rPr>
              <a:t>   }</a:t>
            </a:r>
            <a:endParaRPr lang="pt-BR" sz="1200" dirty="0">
              <a:solidFill>
                <a:srgbClr val="000000"/>
              </a:solidFill>
              <a:latin typeface="Consolas"/>
            </a:endParaRPr>
          </a:p>
          <a:p>
            <a:r>
              <a:rPr lang="pt-BR" sz="1200" dirty="0">
                <a:solidFill>
                  <a:srgbClr val="000000"/>
                </a:solidFill>
                <a:latin typeface="Consolas"/>
              </a:rPr>
              <a:t>}</a:t>
            </a:r>
            <a:endParaRPr lang="pt-BR" sz="1200" dirty="0"/>
          </a:p>
        </p:txBody>
      </p:sp>
      <p:sp>
        <p:nvSpPr>
          <p:cNvPr id="8" name="CaixaDeTexto 7"/>
          <p:cNvSpPr txBox="1"/>
          <p:nvPr/>
        </p:nvSpPr>
        <p:spPr>
          <a:xfrm>
            <a:off x="11132035" y="147539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 smtClean="0"/>
              <a:t>1/</a:t>
            </a:r>
            <a:endParaRPr lang="pt-BR" dirty="0"/>
          </a:p>
        </p:txBody>
      </p:sp>
      <p:sp>
        <p:nvSpPr>
          <p:cNvPr id="9" name="Retângulo 8"/>
          <p:cNvSpPr/>
          <p:nvPr/>
        </p:nvSpPr>
        <p:spPr>
          <a:xfrm>
            <a:off x="3284482" y="4471839"/>
            <a:ext cx="784755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rgbClr val="3F7F5F"/>
                </a:solidFill>
                <a:latin typeface="Consolas"/>
              </a:rPr>
              <a:t>//</a:t>
            </a:r>
            <a:r>
              <a:rPr lang="pt-BR" sz="1200" u="sng" dirty="0">
                <a:solidFill>
                  <a:srgbClr val="3F7F5F"/>
                </a:solidFill>
                <a:latin typeface="Consolas"/>
              </a:rPr>
              <a:t>Decorador abstrato</a:t>
            </a:r>
          </a:p>
          <a:p>
            <a:r>
              <a:rPr lang="en-US" sz="1200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US" sz="12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b="1" dirty="0">
                <a:solidFill>
                  <a:srgbClr val="7F0055"/>
                </a:solidFill>
                <a:latin typeface="Consolas"/>
              </a:rPr>
              <a:t>abstract</a:t>
            </a:r>
            <a:r>
              <a:rPr lang="en-US" sz="12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b="1" dirty="0">
                <a:solidFill>
                  <a:srgbClr val="7F0055"/>
                </a:solidFill>
                <a:latin typeface="Consolas"/>
              </a:rPr>
              <a:t>class</a:t>
            </a:r>
            <a:r>
              <a:rPr lang="en-US" sz="12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Consolas"/>
              </a:rPr>
              <a:t>CondimentDecorator</a:t>
            </a:r>
            <a:r>
              <a:rPr lang="en-US" sz="12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b="1" dirty="0">
                <a:solidFill>
                  <a:srgbClr val="7F0055"/>
                </a:solidFill>
                <a:latin typeface="Consolas"/>
              </a:rPr>
              <a:t>implements</a:t>
            </a:r>
            <a:r>
              <a:rPr lang="en-US" sz="12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sz="1200" b="1" dirty="0" err="1">
                <a:solidFill>
                  <a:srgbClr val="000000"/>
                </a:solidFill>
                <a:latin typeface="Consolas"/>
              </a:rPr>
              <a:t>iBebida</a:t>
            </a:r>
            <a:r>
              <a:rPr lang="en-US" sz="1200" b="1" dirty="0">
                <a:solidFill>
                  <a:srgbClr val="000000"/>
                </a:solidFill>
                <a:latin typeface="Consolas"/>
              </a:rPr>
              <a:t> {</a:t>
            </a:r>
          </a:p>
          <a:p>
            <a:r>
              <a:rPr lang="pt-BR" sz="1200" b="1" dirty="0">
                <a:solidFill>
                  <a:srgbClr val="7F0055"/>
                </a:solidFill>
                <a:latin typeface="Consolas"/>
              </a:rPr>
              <a:t> </a:t>
            </a:r>
            <a:r>
              <a:rPr lang="pt-BR" sz="1200" b="1" dirty="0" smtClean="0">
                <a:solidFill>
                  <a:srgbClr val="7F0055"/>
                </a:solidFill>
                <a:latin typeface="Consolas"/>
              </a:rPr>
              <a:t>  </a:t>
            </a:r>
            <a:r>
              <a:rPr lang="pt-BR" sz="1200" b="1" dirty="0" err="1" smtClean="0">
                <a:solidFill>
                  <a:srgbClr val="7F0055"/>
                </a:solidFill>
                <a:latin typeface="Consolas"/>
              </a:rPr>
              <a:t>protected</a:t>
            </a:r>
            <a:r>
              <a:rPr lang="pt-BR" sz="1200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pt-BR" sz="1200" b="1" dirty="0" err="1">
                <a:solidFill>
                  <a:srgbClr val="000000"/>
                </a:solidFill>
                <a:latin typeface="Consolas"/>
              </a:rPr>
              <a:t>iBebida</a:t>
            </a:r>
            <a:r>
              <a:rPr lang="pt-BR" sz="12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pt-BR" sz="1200" b="1" dirty="0">
                <a:solidFill>
                  <a:srgbClr val="0000C0"/>
                </a:solidFill>
                <a:latin typeface="Consolas"/>
              </a:rPr>
              <a:t>bebida</a:t>
            </a:r>
            <a:r>
              <a:rPr lang="pt-BR" sz="1200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pt-BR" sz="1200" b="1" dirty="0" smtClean="0">
                <a:solidFill>
                  <a:srgbClr val="7F0055"/>
                </a:solidFill>
                <a:latin typeface="Consolas"/>
              </a:rPr>
              <a:t>   </a:t>
            </a:r>
          </a:p>
          <a:p>
            <a:r>
              <a:rPr lang="pt-BR" sz="1200" b="1" dirty="0">
                <a:solidFill>
                  <a:srgbClr val="7F0055"/>
                </a:solidFill>
                <a:latin typeface="Consolas"/>
              </a:rPr>
              <a:t> </a:t>
            </a:r>
            <a:r>
              <a:rPr lang="pt-BR" sz="1200" b="1" dirty="0" smtClean="0">
                <a:solidFill>
                  <a:srgbClr val="7F0055"/>
                </a:solidFill>
                <a:latin typeface="Consolas"/>
              </a:rPr>
              <a:t>  </a:t>
            </a:r>
            <a:r>
              <a:rPr lang="pt-BR" sz="1200" b="1" dirty="0" err="1" smtClean="0">
                <a:solidFill>
                  <a:srgbClr val="7F0055"/>
                </a:solidFill>
                <a:latin typeface="Consolas"/>
              </a:rPr>
              <a:t>public</a:t>
            </a:r>
            <a:r>
              <a:rPr lang="pt-BR" sz="1200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pt-BR" sz="1200" b="1" dirty="0" err="1">
                <a:solidFill>
                  <a:srgbClr val="000000"/>
                </a:solidFill>
                <a:latin typeface="Consolas"/>
              </a:rPr>
              <a:t>CondimentDecorator</a:t>
            </a:r>
            <a:r>
              <a:rPr lang="pt-BR" sz="1200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pt-BR" sz="1200" b="1" dirty="0" err="1">
                <a:solidFill>
                  <a:srgbClr val="000000"/>
                </a:solidFill>
                <a:latin typeface="Consolas"/>
              </a:rPr>
              <a:t>iBebida</a:t>
            </a:r>
            <a:r>
              <a:rPr lang="pt-BR" sz="1200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pt-BR" sz="1200" b="1" dirty="0">
                <a:solidFill>
                  <a:srgbClr val="6A3E3E"/>
                </a:solidFill>
                <a:latin typeface="Consolas"/>
              </a:rPr>
              <a:t>bebida</a:t>
            </a:r>
            <a:r>
              <a:rPr lang="pt-BR" sz="1200" b="1" dirty="0">
                <a:solidFill>
                  <a:srgbClr val="000000"/>
                </a:solidFill>
                <a:latin typeface="Consolas"/>
              </a:rPr>
              <a:t>) {</a:t>
            </a:r>
          </a:p>
          <a:p>
            <a:r>
              <a:rPr lang="pt-BR" sz="1200" b="1" dirty="0" smtClean="0">
                <a:solidFill>
                  <a:srgbClr val="7F0055"/>
                </a:solidFill>
                <a:latin typeface="Consolas"/>
              </a:rPr>
              <a:t>      </a:t>
            </a:r>
            <a:r>
              <a:rPr lang="pt-BR" sz="1200" b="1" dirty="0" err="1" smtClean="0">
                <a:solidFill>
                  <a:srgbClr val="7F0055"/>
                </a:solidFill>
                <a:latin typeface="Consolas"/>
              </a:rPr>
              <a:t>this</a:t>
            </a:r>
            <a:r>
              <a:rPr lang="pt-BR" sz="1200" b="1" dirty="0" err="1" smtClean="0">
                <a:solidFill>
                  <a:srgbClr val="000000"/>
                </a:solidFill>
                <a:latin typeface="Consolas"/>
              </a:rPr>
              <a:t>.</a:t>
            </a:r>
            <a:r>
              <a:rPr lang="pt-BR" sz="1200" b="1" dirty="0" err="1" smtClean="0">
                <a:solidFill>
                  <a:srgbClr val="0000C0"/>
                </a:solidFill>
                <a:latin typeface="Consolas"/>
              </a:rPr>
              <a:t>bebida</a:t>
            </a:r>
            <a:r>
              <a:rPr lang="pt-BR" sz="1200" b="1" dirty="0" smtClean="0">
                <a:solidFill>
                  <a:srgbClr val="000000"/>
                </a:solidFill>
                <a:latin typeface="Consolas"/>
              </a:rPr>
              <a:t>=</a:t>
            </a:r>
            <a:r>
              <a:rPr lang="pt-BR" sz="1200" b="1" dirty="0" smtClean="0">
                <a:solidFill>
                  <a:srgbClr val="6A3E3E"/>
                </a:solidFill>
                <a:latin typeface="Consolas"/>
              </a:rPr>
              <a:t>bebida</a:t>
            </a:r>
            <a:r>
              <a:rPr lang="pt-BR" sz="1200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pt-BR" sz="1200" dirty="0" smtClean="0">
                <a:solidFill>
                  <a:srgbClr val="000000"/>
                </a:solidFill>
                <a:latin typeface="Consolas"/>
              </a:rPr>
              <a:t>   }</a:t>
            </a:r>
            <a:endParaRPr lang="pt-BR" sz="1200" dirty="0">
              <a:solidFill>
                <a:srgbClr val="000000"/>
              </a:solidFill>
              <a:latin typeface="Consolas"/>
            </a:endParaRPr>
          </a:p>
          <a:p>
            <a:r>
              <a:rPr lang="pt-BR" sz="1200" dirty="0">
                <a:solidFill>
                  <a:srgbClr val="000000"/>
                </a:solidFill>
                <a:latin typeface="Consolas"/>
              </a:rPr>
              <a:t>}</a:t>
            </a:r>
            <a:endParaRPr lang="pt-BR" sz="1200" dirty="0"/>
          </a:p>
        </p:txBody>
      </p:sp>
      <p:cxnSp>
        <p:nvCxnSpPr>
          <p:cNvPr id="11" name="Conector reto 10"/>
          <p:cNvCxnSpPr/>
          <p:nvPr/>
        </p:nvCxnSpPr>
        <p:spPr>
          <a:xfrm>
            <a:off x="3284482" y="1835691"/>
            <a:ext cx="74991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/>
          <p:cNvCxnSpPr/>
          <p:nvPr/>
        </p:nvCxnSpPr>
        <p:spPr>
          <a:xfrm>
            <a:off x="3436882" y="4471839"/>
            <a:ext cx="74991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2618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FC993B83-8AD9-B33E-5852-4D85B8D51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3198"/>
            <a:ext cx="10515600" cy="64258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Decorator - </a:t>
            </a:r>
            <a:r>
              <a:rPr lang="en-US" sz="2700" dirty="0" err="1" smtClean="0"/>
              <a:t>exemplo</a:t>
            </a:r>
            <a:endParaRPr lang="pt-BR" dirty="0"/>
          </a:p>
        </p:txBody>
      </p:sp>
      <p:sp>
        <p:nvSpPr>
          <p:cNvPr id="7" name="Retângulo 6"/>
          <p:cNvSpPr/>
          <p:nvPr/>
        </p:nvSpPr>
        <p:spPr>
          <a:xfrm>
            <a:off x="2349062" y="809851"/>
            <a:ext cx="829266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3F7F5F"/>
                </a:solidFill>
                <a:latin typeface="Consolas"/>
              </a:rPr>
              <a:t>//</a:t>
            </a:r>
            <a:r>
              <a:rPr lang="pt-BR" u="sng" dirty="0">
                <a:solidFill>
                  <a:srgbClr val="3F7F5F"/>
                </a:solidFill>
                <a:latin typeface="Consolas"/>
              </a:rPr>
              <a:t>Decorador concreto</a:t>
            </a:r>
          </a:p>
          <a:p>
            <a:r>
              <a:rPr lang="pt-BR" b="1" dirty="0" err="1">
                <a:solidFill>
                  <a:srgbClr val="7F0055"/>
                </a:solidFill>
                <a:latin typeface="Consolas"/>
              </a:rPr>
              <a:t>public</a:t>
            </a:r>
            <a:r>
              <a:rPr lang="pt-BR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pt-BR" b="1" dirty="0" err="1">
                <a:solidFill>
                  <a:srgbClr val="7F0055"/>
                </a:solidFill>
                <a:latin typeface="Consolas"/>
              </a:rPr>
              <a:t>class</a:t>
            </a:r>
            <a:r>
              <a:rPr lang="pt-BR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pt-BR" b="1" dirty="0" err="1">
                <a:solidFill>
                  <a:srgbClr val="000000"/>
                </a:solidFill>
                <a:latin typeface="Consolas"/>
              </a:rPr>
              <a:t>LeiteDecorador</a:t>
            </a:r>
            <a:r>
              <a:rPr lang="pt-BR" b="1" dirty="0">
                <a:solidFill>
                  <a:srgbClr val="000000"/>
                </a:solidFill>
                <a:latin typeface="Consolas"/>
              </a:rPr>
              <a:t>  </a:t>
            </a:r>
            <a:r>
              <a:rPr lang="pt-BR" b="1" dirty="0" err="1">
                <a:solidFill>
                  <a:srgbClr val="7F0055"/>
                </a:solidFill>
                <a:latin typeface="Consolas"/>
              </a:rPr>
              <a:t>extends</a:t>
            </a:r>
            <a:r>
              <a:rPr lang="pt-BR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pt-BR" b="1" dirty="0" err="1">
                <a:solidFill>
                  <a:srgbClr val="000000"/>
                </a:solidFill>
                <a:latin typeface="Consolas"/>
              </a:rPr>
              <a:t>CondimentDecorator</a:t>
            </a:r>
            <a:r>
              <a:rPr lang="pt-BR" b="1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pt-BR" b="1" dirty="0" smtClean="0">
                <a:solidFill>
                  <a:srgbClr val="7F0055"/>
                </a:solidFill>
                <a:latin typeface="Consolas"/>
              </a:rPr>
              <a:t>   </a:t>
            </a:r>
            <a:r>
              <a:rPr lang="pt-BR" b="1" dirty="0" err="1" smtClean="0">
                <a:solidFill>
                  <a:srgbClr val="7F0055"/>
                </a:solidFill>
                <a:latin typeface="Consolas"/>
              </a:rPr>
              <a:t>public</a:t>
            </a:r>
            <a:r>
              <a:rPr lang="pt-BR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pt-BR" b="1" dirty="0" err="1">
                <a:solidFill>
                  <a:srgbClr val="000000"/>
                </a:solidFill>
                <a:latin typeface="Consolas"/>
              </a:rPr>
              <a:t>LeiteDecorador</a:t>
            </a:r>
            <a:r>
              <a:rPr lang="pt-BR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pt-BR" b="1" dirty="0" err="1">
                <a:solidFill>
                  <a:srgbClr val="000000"/>
                </a:solidFill>
                <a:latin typeface="Consolas"/>
              </a:rPr>
              <a:t>iBebida</a:t>
            </a:r>
            <a:r>
              <a:rPr lang="pt-BR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pt-BR" b="1" dirty="0">
                <a:solidFill>
                  <a:srgbClr val="6A3E3E"/>
                </a:solidFill>
                <a:latin typeface="Consolas"/>
              </a:rPr>
              <a:t>bebida</a:t>
            </a:r>
            <a:r>
              <a:rPr lang="pt-BR" b="1" dirty="0">
                <a:solidFill>
                  <a:srgbClr val="000000"/>
                </a:solidFill>
                <a:latin typeface="Consolas"/>
              </a:rPr>
              <a:t>) {</a:t>
            </a:r>
          </a:p>
          <a:p>
            <a:r>
              <a:rPr lang="pt-BR" b="1" dirty="0" smtClean="0">
                <a:solidFill>
                  <a:srgbClr val="7F0055"/>
                </a:solidFill>
                <a:latin typeface="Consolas"/>
              </a:rPr>
              <a:t>       </a:t>
            </a:r>
            <a:r>
              <a:rPr lang="pt-BR" b="1" dirty="0" err="1" smtClean="0">
                <a:solidFill>
                  <a:srgbClr val="7F0055"/>
                </a:solidFill>
                <a:latin typeface="Consolas"/>
              </a:rPr>
              <a:t>super</a:t>
            </a:r>
            <a:r>
              <a:rPr lang="pt-BR" b="1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pt-BR" b="1" dirty="0" smtClean="0">
                <a:solidFill>
                  <a:srgbClr val="6A3E3E"/>
                </a:solidFill>
                <a:latin typeface="Consolas"/>
              </a:rPr>
              <a:t>bebida</a:t>
            </a:r>
            <a:r>
              <a:rPr lang="pt-BR" b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pt-BR" dirty="0" smtClean="0">
                <a:solidFill>
                  <a:srgbClr val="000000"/>
                </a:solidFill>
                <a:latin typeface="Consolas"/>
              </a:rPr>
              <a:t>   }</a:t>
            </a:r>
            <a:endParaRPr lang="pt-BR" dirty="0">
              <a:solidFill>
                <a:srgbClr val="000000"/>
              </a:solidFill>
              <a:latin typeface="Consolas"/>
            </a:endParaRPr>
          </a:p>
          <a:p>
            <a:endParaRPr lang="pt-BR" dirty="0">
              <a:latin typeface="Consolas"/>
            </a:endParaRPr>
          </a:p>
          <a:p>
            <a:r>
              <a:rPr lang="pt-BR" dirty="0" smtClean="0">
                <a:solidFill>
                  <a:srgbClr val="646464"/>
                </a:solidFill>
                <a:latin typeface="Consolas"/>
              </a:rPr>
              <a:t>   @</a:t>
            </a:r>
            <a:r>
              <a:rPr lang="pt-BR" dirty="0" err="1">
                <a:solidFill>
                  <a:srgbClr val="646464"/>
                </a:solidFill>
                <a:latin typeface="Consolas"/>
              </a:rPr>
              <a:t>Override</a:t>
            </a:r>
            <a:endParaRPr lang="pt-BR" dirty="0">
              <a:solidFill>
                <a:srgbClr val="646464"/>
              </a:solidFill>
              <a:latin typeface="Consolas"/>
            </a:endParaRPr>
          </a:p>
          <a:p>
            <a:r>
              <a:rPr lang="pt-BR" b="1" dirty="0" smtClean="0">
                <a:solidFill>
                  <a:srgbClr val="7F0055"/>
                </a:solidFill>
                <a:latin typeface="Consolas"/>
              </a:rPr>
              <a:t>   </a:t>
            </a:r>
            <a:r>
              <a:rPr lang="pt-BR" b="1" dirty="0" err="1" smtClean="0">
                <a:solidFill>
                  <a:srgbClr val="7F0055"/>
                </a:solidFill>
                <a:latin typeface="Consolas"/>
              </a:rPr>
              <a:t>public</a:t>
            </a:r>
            <a:r>
              <a:rPr lang="pt-BR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pt-BR" b="1" dirty="0" err="1">
                <a:solidFill>
                  <a:srgbClr val="000000"/>
                </a:solidFill>
                <a:latin typeface="Consolas"/>
              </a:rPr>
              <a:t>String</a:t>
            </a:r>
            <a:r>
              <a:rPr lang="pt-BR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pt-BR" b="1" dirty="0" err="1">
                <a:solidFill>
                  <a:srgbClr val="000000"/>
                </a:solidFill>
                <a:latin typeface="Consolas"/>
              </a:rPr>
              <a:t>Descricao</a:t>
            </a:r>
            <a:r>
              <a:rPr lang="pt-BR" b="1" dirty="0">
                <a:solidFill>
                  <a:srgbClr val="000000"/>
                </a:solidFill>
                <a:latin typeface="Consolas"/>
              </a:rPr>
              <a:t>() {</a:t>
            </a:r>
          </a:p>
          <a:p>
            <a:r>
              <a:rPr lang="pt-BR" b="1" dirty="0" smtClean="0">
                <a:solidFill>
                  <a:srgbClr val="7F0055"/>
                </a:solidFill>
                <a:latin typeface="Consolas"/>
              </a:rPr>
              <a:t>      </a:t>
            </a:r>
            <a:r>
              <a:rPr lang="pt-BR" b="1" dirty="0" err="1" smtClean="0">
                <a:solidFill>
                  <a:srgbClr val="7F0055"/>
                </a:solidFill>
                <a:latin typeface="Consolas"/>
              </a:rPr>
              <a:t>return</a:t>
            </a:r>
            <a:r>
              <a:rPr lang="pt-BR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pt-BR" b="1" dirty="0" err="1">
                <a:solidFill>
                  <a:srgbClr val="0000C0"/>
                </a:solidFill>
                <a:latin typeface="Consolas"/>
              </a:rPr>
              <a:t>bebida</a:t>
            </a:r>
            <a:r>
              <a:rPr lang="pt-BR" b="1" dirty="0" err="1">
                <a:solidFill>
                  <a:srgbClr val="000000"/>
                </a:solidFill>
                <a:latin typeface="Consolas"/>
              </a:rPr>
              <a:t>.Descricao</a:t>
            </a:r>
            <a:r>
              <a:rPr lang="pt-BR" b="1" dirty="0">
                <a:solidFill>
                  <a:srgbClr val="000000"/>
                </a:solidFill>
                <a:latin typeface="Consolas"/>
              </a:rPr>
              <a:t>() + </a:t>
            </a:r>
            <a:r>
              <a:rPr lang="pt-BR" b="1" dirty="0">
                <a:solidFill>
                  <a:srgbClr val="2A00FF"/>
                </a:solidFill>
                <a:latin typeface="Consolas"/>
              </a:rPr>
              <a:t>", Leite"</a:t>
            </a:r>
            <a:r>
              <a:rPr lang="pt-BR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pt-BR" dirty="0" smtClean="0">
                <a:solidFill>
                  <a:srgbClr val="000000"/>
                </a:solidFill>
                <a:latin typeface="Consolas"/>
              </a:rPr>
              <a:t>   }</a:t>
            </a:r>
            <a:endParaRPr lang="pt-BR" dirty="0">
              <a:solidFill>
                <a:srgbClr val="000000"/>
              </a:solidFill>
              <a:latin typeface="Consolas"/>
            </a:endParaRPr>
          </a:p>
          <a:p>
            <a:endParaRPr lang="pt-BR" dirty="0">
              <a:latin typeface="Consolas"/>
            </a:endParaRPr>
          </a:p>
          <a:p>
            <a:r>
              <a:rPr lang="pt-BR" dirty="0" smtClean="0">
                <a:solidFill>
                  <a:srgbClr val="646464"/>
                </a:solidFill>
                <a:latin typeface="Consolas"/>
              </a:rPr>
              <a:t>   @</a:t>
            </a:r>
            <a:r>
              <a:rPr lang="pt-BR" dirty="0" err="1">
                <a:solidFill>
                  <a:srgbClr val="646464"/>
                </a:solidFill>
                <a:latin typeface="Consolas"/>
              </a:rPr>
              <a:t>Override</a:t>
            </a:r>
            <a:endParaRPr lang="pt-BR" dirty="0">
              <a:solidFill>
                <a:srgbClr val="646464"/>
              </a:solidFill>
              <a:latin typeface="Consolas"/>
            </a:endParaRPr>
          </a:p>
          <a:p>
            <a:r>
              <a:rPr lang="pt-BR" b="1" dirty="0" smtClean="0">
                <a:solidFill>
                  <a:srgbClr val="7F0055"/>
                </a:solidFill>
                <a:latin typeface="Consolas"/>
              </a:rPr>
              <a:t>   </a:t>
            </a:r>
            <a:r>
              <a:rPr lang="pt-BR" b="1" dirty="0" err="1" smtClean="0">
                <a:solidFill>
                  <a:srgbClr val="7F0055"/>
                </a:solidFill>
                <a:latin typeface="Consolas"/>
              </a:rPr>
              <a:t>public</a:t>
            </a:r>
            <a:r>
              <a:rPr lang="pt-BR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pt-BR" b="1" dirty="0" err="1">
                <a:solidFill>
                  <a:srgbClr val="7F0055"/>
                </a:solidFill>
                <a:latin typeface="Consolas"/>
              </a:rPr>
              <a:t>double</a:t>
            </a:r>
            <a:r>
              <a:rPr lang="pt-BR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pt-BR" b="1" dirty="0" err="1">
                <a:solidFill>
                  <a:srgbClr val="000000"/>
                </a:solidFill>
                <a:latin typeface="Consolas"/>
              </a:rPr>
              <a:t>Preco</a:t>
            </a:r>
            <a:r>
              <a:rPr lang="pt-BR" b="1" dirty="0">
                <a:solidFill>
                  <a:srgbClr val="000000"/>
                </a:solidFill>
                <a:latin typeface="Consolas"/>
              </a:rPr>
              <a:t>() {</a:t>
            </a:r>
          </a:p>
          <a:p>
            <a:r>
              <a:rPr lang="pt-BR" b="1" dirty="0" smtClean="0">
                <a:solidFill>
                  <a:srgbClr val="7F0055"/>
                </a:solidFill>
                <a:latin typeface="Consolas"/>
              </a:rPr>
              <a:t>      </a:t>
            </a:r>
            <a:r>
              <a:rPr lang="pt-BR" b="1" dirty="0" err="1" smtClean="0">
                <a:solidFill>
                  <a:srgbClr val="7F0055"/>
                </a:solidFill>
                <a:latin typeface="Consolas"/>
              </a:rPr>
              <a:t>return</a:t>
            </a:r>
            <a:r>
              <a:rPr lang="pt-BR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pt-BR" b="1" dirty="0" err="1">
                <a:solidFill>
                  <a:srgbClr val="0000C0"/>
                </a:solidFill>
                <a:latin typeface="Consolas"/>
              </a:rPr>
              <a:t>bebida</a:t>
            </a:r>
            <a:r>
              <a:rPr lang="pt-BR" b="1" dirty="0" err="1">
                <a:solidFill>
                  <a:srgbClr val="000000"/>
                </a:solidFill>
                <a:latin typeface="Consolas"/>
              </a:rPr>
              <a:t>.Preco</a:t>
            </a:r>
            <a:r>
              <a:rPr lang="pt-BR" b="1" dirty="0">
                <a:solidFill>
                  <a:srgbClr val="000000"/>
                </a:solidFill>
                <a:latin typeface="Consolas"/>
              </a:rPr>
              <a:t>() + 0.5;</a:t>
            </a:r>
          </a:p>
          <a:p>
            <a:r>
              <a:rPr lang="pt-BR" dirty="0" smtClean="0">
                <a:solidFill>
                  <a:srgbClr val="000000"/>
                </a:solidFill>
                <a:latin typeface="Consolas"/>
              </a:rPr>
              <a:t>   }</a:t>
            </a:r>
            <a:endParaRPr lang="pt-BR" dirty="0">
              <a:solidFill>
                <a:srgbClr val="000000"/>
              </a:solidFill>
              <a:latin typeface="Consolas"/>
            </a:endParaRPr>
          </a:p>
          <a:p>
            <a:r>
              <a:rPr lang="pt-BR" dirty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11132035" y="147539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 smtClean="0"/>
              <a:t>1/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42741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FC993B83-8AD9-B33E-5852-4D85B8D51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3198"/>
            <a:ext cx="10515600" cy="64258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Decorator - </a:t>
            </a:r>
            <a:r>
              <a:rPr lang="en-US" sz="2700" dirty="0" err="1" smtClean="0"/>
              <a:t>exemplo</a:t>
            </a:r>
            <a:endParaRPr lang="pt-BR" dirty="0"/>
          </a:p>
        </p:txBody>
      </p:sp>
      <p:sp>
        <p:nvSpPr>
          <p:cNvPr id="7" name="Retângulo 6"/>
          <p:cNvSpPr/>
          <p:nvPr/>
        </p:nvSpPr>
        <p:spPr>
          <a:xfrm>
            <a:off x="2349062" y="809851"/>
            <a:ext cx="8292662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3F7F5F"/>
                </a:solidFill>
                <a:latin typeface="Consolas"/>
              </a:rPr>
              <a:t>//</a:t>
            </a:r>
            <a:r>
              <a:rPr lang="pt-BR" u="sng" dirty="0">
                <a:solidFill>
                  <a:srgbClr val="3F7F5F"/>
                </a:solidFill>
                <a:latin typeface="Consolas"/>
              </a:rPr>
              <a:t>Decorador concreto</a:t>
            </a:r>
          </a:p>
          <a:p>
            <a:r>
              <a:rPr lang="en-US" b="1" dirty="0">
                <a:solidFill>
                  <a:srgbClr val="7F0055"/>
                </a:solidFill>
                <a:latin typeface="Consolas"/>
              </a:rPr>
              <a:t>public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class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/>
              </a:rPr>
              <a:t>AcucarDecorator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extends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/>
              </a:rPr>
              <a:t>CondimentDecorator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endParaRPr lang="pt-BR" dirty="0">
              <a:latin typeface="Consolas"/>
            </a:endParaRPr>
          </a:p>
          <a:p>
            <a:r>
              <a:rPr lang="pt-BR" b="1" dirty="0" smtClean="0">
                <a:solidFill>
                  <a:srgbClr val="7F0055"/>
                </a:solidFill>
                <a:latin typeface="Consolas"/>
              </a:rPr>
              <a:t>   </a:t>
            </a:r>
            <a:r>
              <a:rPr lang="pt-BR" b="1" dirty="0" err="1" smtClean="0">
                <a:solidFill>
                  <a:srgbClr val="7F0055"/>
                </a:solidFill>
                <a:latin typeface="Consolas"/>
              </a:rPr>
              <a:t>public</a:t>
            </a:r>
            <a:r>
              <a:rPr lang="pt-BR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pt-BR" b="1" dirty="0" err="1">
                <a:solidFill>
                  <a:srgbClr val="000000"/>
                </a:solidFill>
                <a:latin typeface="Consolas"/>
              </a:rPr>
              <a:t>AcucarDecorator</a:t>
            </a:r>
            <a:r>
              <a:rPr lang="pt-BR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pt-BR" b="1" dirty="0" err="1">
                <a:solidFill>
                  <a:srgbClr val="000000"/>
                </a:solidFill>
                <a:latin typeface="Consolas"/>
              </a:rPr>
              <a:t>iBebida</a:t>
            </a:r>
            <a:r>
              <a:rPr lang="pt-BR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pt-BR" b="1" dirty="0">
                <a:solidFill>
                  <a:srgbClr val="6A3E3E"/>
                </a:solidFill>
                <a:latin typeface="Consolas"/>
              </a:rPr>
              <a:t>bebida</a:t>
            </a:r>
            <a:r>
              <a:rPr lang="pt-BR" b="1" dirty="0">
                <a:solidFill>
                  <a:srgbClr val="000000"/>
                </a:solidFill>
                <a:latin typeface="Consolas"/>
              </a:rPr>
              <a:t>) {</a:t>
            </a:r>
          </a:p>
          <a:p>
            <a:r>
              <a:rPr lang="pt-BR" b="1" dirty="0" smtClean="0">
                <a:solidFill>
                  <a:srgbClr val="7F0055"/>
                </a:solidFill>
                <a:latin typeface="Consolas"/>
              </a:rPr>
              <a:t>       </a:t>
            </a:r>
            <a:r>
              <a:rPr lang="pt-BR" b="1" dirty="0" err="1" smtClean="0">
                <a:solidFill>
                  <a:srgbClr val="7F0055"/>
                </a:solidFill>
                <a:latin typeface="Consolas"/>
              </a:rPr>
              <a:t>super</a:t>
            </a:r>
            <a:r>
              <a:rPr lang="pt-BR" b="1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pt-BR" b="1" dirty="0" smtClean="0">
                <a:solidFill>
                  <a:srgbClr val="6A3E3E"/>
                </a:solidFill>
                <a:latin typeface="Consolas"/>
              </a:rPr>
              <a:t>bebida</a:t>
            </a:r>
            <a:r>
              <a:rPr lang="pt-BR" b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pt-BR" dirty="0" smtClean="0">
                <a:solidFill>
                  <a:srgbClr val="000000"/>
                </a:solidFill>
                <a:latin typeface="Consolas"/>
              </a:rPr>
              <a:t>   }</a:t>
            </a:r>
            <a:endParaRPr lang="pt-BR" dirty="0">
              <a:solidFill>
                <a:srgbClr val="000000"/>
              </a:solidFill>
              <a:latin typeface="Consolas"/>
            </a:endParaRPr>
          </a:p>
          <a:p>
            <a:endParaRPr lang="pt-BR" dirty="0">
              <a:latin typeface="Consolas"/>
            </a:endParaRPr>
          </a:p>
          <a:p>
            <a:r>
              <a:rPr lang="pt-BR" dirty="0" smtClean="0">
                <a:solidFill>
                  <a:srgbClr val="646464"/>
                </a:solidFill>
                <a:latin typeface="Consolas"/>
              </a:rPr>
              <a:t>   @</a:t>
            </a:r>
            <a:r>
              <a:rPr lang="pt-BR" dirty="0" err="1">
                <a:solidFill>
                  <a:srgbClr val="646464"/>
                </a:solidFill>
                <a:latin typeface="Consolas"/>
              </a:rPr>
              <a:t>Override</a:t>
            </a:r>
            <a:endParaRPr lang="pt-BR" dirty="0">
              <a:solidFill>
                <a:srgbClr val="646464"/>
              </a:solidFill>
              <a:latin typeface="Consolas"/>
            </a:endParaRPr>
          </a:p>
          <a:p>
            <a:r>
              <a:rPr lang="pt-BR" b="1" dirty="0" smtClean="0">
                <a:solidFill>
                  <a:srgbClr val="7F0055"/>
                </a:solidFill>
                <a:latin typeface="Consolas"/>
              </a:rPr>
              <a:t>   </a:t>
            </a:r>
            <a:r>
              <a:rPr lang="pt-BR" b="1" dirty="0" err="1" smtClean="0">
                <a:solidFill>
                  <a:srgbClr val="7F0055"/>
                </a:solidFill>
                <a:latin typeface="Consolas"/>
              </a:rPr>
              <a:t>public</a:t>
            </a:r>
            <a:r>
              <a:rPr lang="pt-BR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pt-BR" b="1" dirty="0" err="1">
                <a:solidFill>
                  <a:srgbClr val="000000"/>
                </a:solidFill>
                <a:latin typeface="Consolas"/>
              </a:rPr>
              <a:t>String</a:t>
            </a:r>
            <a:r>
              <a:rPr lang="pt-BR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pt-BR" b="1" dirty="0" err="1">
                <a:solidFill>
                  <a:srgbClr val="000000"/>
                </a:solidFill>
                <a:latin typeface="Consolas"/>
              </a:rPr>
              <a:t>Descricao</a:t>
            </a:r>
            <a:r>
              <a:rPr lang="pt-BR" b="1" dirty="0">
                <a:solidFill>
                  <a:srgbClr val="000000"/>
                </a:solidFill>
                <a:latin typeface="Consolas"/>
              </a:rPr>
              <a:t>() {</a:t>
            </a:r>
          </a:p>
          <a:p>
            <a:r>
              <a:rPr lang="pt-BR" b="1" dirty="0" smtClean="0">
                <a:solidFill>
                  <a:srgbClr val="7F0055"/>
                </a:solidFill>
                <a:latin typeface="Consolas"/>
              </a:rPr>
              <a:t>      </a:t>
            </a:r>
            <a:r>
              <a:rPr lang="pt-BR" b="1" dirty="0" err="1" smtClean="0">
                <a:solidFill>
                  <a:srgbClr val="7F0055"/>
                </a:solidFill>
                <a:latin typeface="Consolas"/>
              </a:rPr>
              <a:t>return</a:t>
            </a:r>
            <a:r>
              <a:rPr lang="pt-BR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pt-BR" b="1" dirty="0" err="1">
                <a:solidFill>
                  <a:srgbClr val="0000C0"/>
                </a:solidFill>
                <a:latin typeface="Consolas"/>
              </a:rPr>
              <a:t>bebida</a:t>
            </a:r>
            <a:r>
              <a:rPr lang="pt-BR" b="1" dirty="0" err="1">
                <a:solidFill>
                  <a:srgbClr val="000000"/>
                </a:solidFill>
                <a:latin typeface="Consolas"/>
              </a:rPr>
              <a:t>.Descricao</a:t>
            </a:r>
            <a:r>
              <a:rPr lang="pt-BR" b="1" dirty="0">
                <a:solidFill>
                  <a:srgbClr val="000000"/>
                </a:solidFill>
                <a:latin typeface="Consolas"/>
              </a:rPr>
              <a:t>() + </a:t>
            </a:r>
            <a:r>
              <a:rPr lang="pt-BR" b="1" dirty="0">
                <a:solidFill>
                  <a:srgbClr val="2A00FF"/>
                </a:solidFill>
                <a:latin typeface="Consolas"/>
              </a:rPr>
              <a:t>", </a:t>
            </a:r>
            <a:r>
              <a:rPr lang="pt-BR" b="1" dirty="0" err="1">
                <a:solidFill>
                  <a:srgbClr val="2A00FF"/>
                </a:solidFill>
                <a:latin typeface="Consolas"/>
              </a:rPr>
              <a:t>acucar</a:t>
            </a:r>
            <a:r>
              <a:rPr lang="pt-BR" b="1" dirty="0">
                <a:solidFill>
                  <a:srgbClr val="2A00FF"/>
                </a:solidFill>
                <a:latin typeface="Consolas"/>
              </a:rPr>
              <a:t>"</a:t>
            </a:r>
            <a:r>
              <a:rPr lang="pt-BR" b="1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pt-BR" dirty="0" smtClean="0">
                <a:solidFill>
                  <a:srgbClr val="000000"/>
                </a:solidFill>
                <a:latin typeface="Consolas"/>
              </a:rPr>
              <a:t>   }</a:t>
            </a:r>
            <a:endParaRPr lang="pt-BR" dirty="0">
              <a:solidFill>
                <a:srgbClr val="000000"/>
              </a:solidFill>
              <a:latin typeface="Consolas"/>
            </a:endParaRPr>
          </a:p>
          <a:p>
            <a:endParaRPr lang="pt-BR" dirty="0">
              <a:latin typeface="Consolas"/>
            </a:endParaRPr>
          </a:p>
          <a:p>
            <a:r>
              <a:rPr lang="pt-BR" dirty="0" smtClean="0">
                <a:solidFill>
                  <a:srgbClr val="646464"/>
                </a:solidFill>
                <a:latin typeface="Consolas"/>
              </a:rPr>
              <a:t>   @</a:t>
            </a:r>
            <a:r>
              <a:rPr lang="pt-BR" dirty="0" err="1">
                <a:solidFill>
                  <a:srgbClr val="646464"/>
                </a:solidFill>
                <a:latin typeface="Consolas"/>
              </a:rPr>
              <a:t>Override</a:t>
            </a:r>
            <a:endParaRPr lang="pt-BR" dirty="0">
              <a:solidFill>
                <a:srgbClr val="646464"/>
              </a:solidFill>
              <a:latin typeface="Consolas"/>
            </a:endParaRPr>
          </a:p>
          <a:p>
            <a:r>
              <a:rPr lang="pt-BR" b="1" dirty="0" smtClean="0">
                <a:solidFill>
                  <a:srgbClr val="7F0055"/>
                </a:solidFill>
                <a:latin typeface="Consolas"/>
              </a:rPr>
              <a:t>   </a:t>
            </a:r>
            <a:r>
              <a:rPr lang="pt-BR" b="1" dirty="0" err="1" smtClean="0">
                <a:solidFill>
                  <a:srgbClr val="7F0055"/>
                </a:solidFill>
                <a:latin typeface="Consolas"/>
              </a:rPr>
              <a:t>public</a:t>
            </a:r>
            <a:r>
              <a:rPr lang="pt-BR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pt-BR" b="1" dirty="0" err="1">
                <a:solidFill>
                  <a:srgbClr val="7F0055"/>
                </a:solidFill>
                <a:latin typeface="Consolas"/>
              </a:rPr>
              <a:t>double</a:t>
            </a:r>
            <a:r>
              <a:rPr lang="pt-BR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pt-BR" b="1" dirty="0" err="1">
                <a:solidFill>
                  <a:srgbClr val="000000"/>
                </a:solidFill>
                <a:latin typeface="Consolas"/>
              </a:rPr>
              <a:t>Preco</a:t>
            </a:r>
            <a:r>
              <a:rPr lang="pt-BR" b="1" dirty="0">
                <a:solidFill>
                  <a:srgbClr val="000000"/>
                </a:solidFill>
                <a:latin typeface="Consolas"/>
              </a:rPr>
              <a:t>() {</a:t>
            </a:r>
          </a:p>
          <a:p>
            <a:r>
              <a:rPr lang="pt-BR" b="1" dirty="0">
                <a:solidFill>
                  <a:srgbClr val="7F0055"/>
                </a:solidFill>
                <a:latin typeface="Consolas"/>
              </a:rPr>
              <a:t> </a:t>
            </a:r>
            <a:r>
              <a:rPr lang="pt-BR" b="1" dirty="0" smtClean="0">
                <a:solidFill>
                  <a:srgbClr val="7F0055"/>
                </a:solidFill>
                <a:latin typeface="Consolas"/>
              </a:rPr>
              <a:t>     </a:t>
            </a:r>
            <a:r>
              <a:rPr lang="pt-BR" b="1" dirty="0" err="1" smtClean="0">
                <a:solidFill>
                  <a:srgbClr val="7F0055"/>
                </a:solidFill>
                <a:latin typeface="Consolas"/>
              </a:rPr>
              <a:t>return</a:t>
            </a:r>
            <a:r>
              <a:rPr lang="pt-BR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pt-BR" b="1" dirty="0" err="1" smtClean="0">
                <a:solidFill>
                  <a:srgbClr val="0000C0"/>
                </a:solidFill>
                <a:latin typeface="Consolas"/>
              </a:rPr>
              <a:t>bebida</a:t>
            </a:r>
            <a:r>
              <a:rPr lang="pt-BR" b="1" dirty="0" err="1" smtClean="0">
                <a:solidFill>
                  <a:srgbClr val="000000"/>
                </a:solidFill>
                <a:latin typeface="Consolas"/>
              </a:rPr>
              <a:t>.Preco</a:t>
            </a:r>
            <a:r>
              <a:rPr lang="pt-BR" b="1" dirty="0" smtClean="0">
                <a:solidFill>
                  <a:srgbClr val="000000"/>
                </a:solidFill>
                <a:latin typeface="Consolas"/>
              </a:rPr>
              <a:t>() + 0.1;</a:t>
            </a:r>
          </a:p>
          <a:p>
            <a:r>
              <a:rPr lang="pt-BR" dirty="0" smtClean="0">
                <a:solidFill>
                  <a:srgbClr val="000000"/>
                </a:solidFill>
                <a:latin typeface="Consolas"/>
              </a:rPr>
              <a:t>   }</a:t>
            </a:r>
            <a:endParaRPr lang="pt-BR" dirty="0">
              <a:solidFill>
                <a:srgbClr val="000000"/>
              </a:solidFill>
              <a:latin typeface="Consolas"/>
            </a:endParaRPr>
          </a:p>
          <a:p>
            <a:r>
              <a:rPr lang="pt-BR" dirty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11132035" y="147539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 smtClean="0"/>
              <a:t>1/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59081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FC993B83-8AD9-B33E-5852-4D85B8D51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3198"/>
            <a:ext cx="10515600" cy="64258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Decorator - </a:t>
            </a:r>
            <a:r>
              <a:rPr lang="en-US" sz="2700" dirty="0" err="1" smtClean="0"/>
              <a:t>exemplo</a:t>
            </a:r>
            <a:endParaRPr lang="pt-BR" dirty="0"/>
          </a:p>
        </p:txBody>
      </p:sp>
      <p:sp>
        <p:nvSpPr>
          <p:cNvPr id="7" name="Retângulo 6"/>
          <p:cNvSpPr/>
          <p:nvPr/>
        </p:nvSpPr>
        <p:spPr>
          <a:xfrm>
            <a:off x="2349062" y="809851"/>
            <a:ext cx="8292662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3F7F5F"/>
                </a:solidFill>
                <a:latin typeface="Consolas"/>
              </a:rPr>
              <a:t>//</a:t>
            </a:r>
            <a:r>
              <a:rPr lang="pt-BR" u="sng" dirty="0">
                <a:solidFill>
                  <a:srgbClr val="3F7F5F"/>
                </a:solidFill>
                <a:latin typeface="Consolas"/>
              </a:rPr>
              <a:t>Consumidor do </a:t>
            </a:r>
            <a:r>
              <a:rPr lang="pt-BR" u="sng" dirty="0" err="1">
                <a:solidFill>
                  <a:srgbClr val="3F7F5F"/>
                </a:solidFill>
                <a:latin typeface="Consolas"/>
              </a:rPr>
              <a:t>Decorator</a:t>
            </a:r>
            <a:endParaRPr lang="pt-BR" u="sng" dirty="0">
              <a:solidFill>
                <a:srgbClr val="3F7F5F"/>
              </a:solidFill>
              <a:latin typeface="Consolas"/>
            </a:endParaRPr>
          </a:p>
          <a:p>
            <a:r>
              <a:rPr lang="pt-BR" b="1" dirty="0" err="1">
                <a:solidFill>
                  <a:srgbClr val="7F0055"/>
                </a:solidFill>
                <a:latin typeface="Consolas"/>
              </a:rPr>
              <a:t>public</a:t>
            </a:r>
            <a:r>
              <a:rPr lang="pt-BR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pt-BR" b="1" dirty="0" err="1">
                <a:solidFill>
                  <a:srgbClr val="7F0055"/>
                </a:solidFill>
                <a:latin typeface="Consolas"/>
              </a:rPr>
              <a:t>class</a:t>
            </a:r>
            <a:r>
              <a:rPr lang="pt-BR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pt-BR" b="1" dirty="0" err="1">
                <a:solidFill>
                  <a:srgbClr val="000000"/>
                </a:solidFill>
                <a:latin typeface="Consolas"/>
              </a:rPr>
              <a:t>ConsumidorDecorator</a:t>
            </a:r>
            <a:r>
              <a:rPr lang="pt-BR" b="1" dirty="0">
                <a:solidFill>
                  <a:srgbClr val="000000"/>
                </a:solidFill>
                <a:latin typeface="Consolas"/>
              </a:rPr>
              <a:t> {</a:t>
            </a:r>
          </a:p>
          <a:p>
            <a:r>
              <a:rPr lang="en-US" b="1" dirty="0" smtClean="0">
                <a:solidFill>
                  <a:srgbClr val="7F0055"/>
                </a:solidFill>
                <a:latin typeface="Consolas"/>
              </a:rPr>
              <a:t>   public</a:t>
            </a:r>
            <a:r>
              <a:rPr lang="en-US" b="1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static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void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main(String[] </a:t>
            </a:r>
            <a:r>
              <a:rPr lang="en-US" b="1" dirty="0" err="1">
                <a:solidFill>
                  <a:srgbClr val="6A3E3E"/>
                </a:solidFill>
                <a:latin typeface="Consolas"/>
              </a:rPr>
              <a:t>args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) {</a:t>
            </a:r>
          </a:p>
          <a:p>
            <a:endParaRPr lang="pt-BR" dirty="0">
              <a:latin typeface="Consolas"/>
            </a:endParaRPr>
          </a:p>
          <a:p>
            <a:r>
              <a:rPr lang="pt-BR" dirty="0" smtClean="0">
                <a:solidFill>
                  <a:srgbClr val="3F7F5F"/>
                </a:solidFill>
                <a:latin typeface="Consolas"/>
              </a:rPr>
              <a:t>      //</a:t>
            </a:r>
            <a:r>
              <a:rPr lang="pt-BR" u="sng" dirty="0">
                <a:solidFill>
                  <a:srgbClr val="3F7F5F"/>
                </a:solidFill>
                <a:latin typeface="Consolas"/>
              </a:rPr>
              <a:t>Preparar um café</a:t>
            </a:r>
          </a:p>
          <a:p>
            <a:r>
              <a:rPr lang="pt-BR" dirty="0" smtClean="0">
                <a:solidFill>
                  <a:srgbClr val="000000"/>
                </a:solidFill>
                <a:latin typeface="Consolas"/>
              </a:rPr>
              <a:t>      </a:t>
            </a:r>
            <a:r>
              <a:rPr lang="pt-BR" dirty="0" err="1" smtClean="0">
                <a:solidFill>
                  <a:srgbClr val="000000"/>
                </a:solidFill>
                <a:latin typeface="Consolas"/>
              </a:rPr>
              <a:t>iBebida</a:t>
            </a:r>
            <a:r>
              <a:rPr lang="pt-BR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pt-BR" dirty="0" err="1">
                <a:solidFill>
                  <a:srgbClr val="6A3E3E"/>
                </a:solidFill>
                <a:latin typeface="Consolas"/>
              </a:rPr>
              <a:t>cafe</a:t>
            </a:r>
            <a:r>
              <a:rPr lang="pt-BR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pt-BR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pt-BR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pt-BR" b="1" dirty="0" err="1">
                <a:solidFill>
                  <a:srgbClr val="000000"/>
                </a:solidFill>
                <a:latin typeface="Consolas"/>
              </a:rPr>
              <a:t>Cafe</a:t>
            </a:r>
            <a:r>
              <a:rPr lang="pt-BR" b="1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r>
              <a:rPr lang="pt-BR" dirty="0" smtClean="0">
                <a:solidFill>
                  <a:srgbClr val="000000"/>
                </a:solidFill>
                <a:latin typeface="Consolas"/>
              </a:rPr>
              <a:t>      </a:t>
            </a:r>
            <a:r>
              <a:rPr lang="pt-BR" dirty="0" err="1" smtClean="0">
                <a:solidFill>
                  <a:srgbClr val="000000"/>
                </a:solidFill>
                <a:latin typeface="Consolas"/>
              </a:rPr>
              <a:t>System.</a:t>
            </a:r>
            <a:r>
              <a:rPr lang="pt-BR" b="1" i="1" dirty="0" err="1" smtClean="0">
                <a:solidFill>
                  <a:srgbClr val="0000C0"/>
                </a:solidFill>
                <a:latin typeface="Consolas"/>
              </a:rPr>
              <a:t>out</a:t>
            </a:r>
            <a:r>
              <a:rPr lang="pt-BR" b="1" i="1" dirty="0" err="1" smtClean="0">
                <a:solidFill>
                  <a:srgbClr val="000000"/>
                </a:solidFill>
                <a:latin typeface="Consolas"/>
              </a:rPr>
              <a:t>.println</a:t>
            </a:r>
            <a:r>
              <a:rPr lang="pt-BR" b="1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pt-BR" b="1" i="1" dirty="0">
                <a:solidFill>
                  <a:srgbClr val="2A00FF"/>
                </a:solidFill>
                <a:latin typeface="Consolas"/>
              </a:rPr>
              <a:t>"Bebida pedida: "</a:t>
            </a:r>
            <a:r>
              <a:rPr lang="pt-BR" b="1" i="1" dirty="0">
                <a:solidFill>
                  <a:srgbClr val="000000"/>
                </a:solidFill>
                <a:latin typeface="Consolas"/>
              </a:rPr>
              <a:t> +</a:t>
            </a:r>
            <a:r>
              <a:rPr lang="pt-BR" b="1" i="1" dirty="0" err="1">
                <a:solidFill>
                  <a:srgbClr val="6A3E3E"/>
                </a:solidFill>
                <a:latin typeface="Consolas"/>
              </a:rPr>
              <a:t>cafe</a:t>
            </a:r>
            <a:r>
              <a:rPr lang="pt-BR" b="1" i="1" dirty="0" err="1">
                <a:solidFill>
                  <a:srgbClr val="000000"/>
                </a:solidFill>
                <a:latin typeface="Consolas"/>
              </a:rPr>
              <a:t>.Descricao</a:t>
            </a:r>
            <a:r>
              <a:rPr lang="pt-BR" b="1" i="1" dirty="0">
                <a:solidFill>
                  <a:srgbClr val="000000"/>
                </a:solidFill>
                <a:latin typeface="Consolas"/>
              </a:rPr>
              <a:t>());</a:t>
            </a:r>
          </a:p>
          <a:p>
            <a:r>
              <a:rPr lang="pt-BR" dirty="0" smtClean="0">
                <a:solidFill>
                  <a:srgbClr val="000000"/>
                </a:solidFill>
                <a:latin typeface="Consolas"/>
              </a:rPr>
              <a:t>      </a:t>
            </a:r>
            <a:r>
              <a:rPr lang="pt-BR" dirty="0" err="1" smtClean="0">
                <a:solidFill>
                  <a:srgbClr val="000000"/>
                </a:solidFill>
                <a:latin typeface="Consolas"/>
              </a:rPr>
              <a:t>System.</a:t>
            </a:r>
            <a:r>
              <a:rPr lang="pt-BR" b="1" i="1" dirty="0" err="1" smtClean="0">
                <a:solidFill>
                  <a:srgbClr val="0000C0"/>
                </a:solidFill>
                <a:latin typeface="Consolas"/>
              </a:rPr>
              <a:t>out</a:t>
            </a:r>
            <a:r>
              <a:rPr lang="pt-BR" b="1" i="1" dirty="0" err="1" smtClean="0">
                <a:solidFill>
                  <a:srgbClr val="000000"/>
                </a:solidFill>
                <a:latin typeface="Consolas"/>
              </a:rPr>
              <a:t>.println</a:t>
            </a:r>
            <a:r>
              <a:rPr lang="pt-BR" b="1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pt-BR" b="1" i="1" dirty="0">
                <a:solidFill>
                  <a:srgbClr val="2A00FF"/>
                </a:solidFill>
                <a:latin typeface="Consolas"/>
              </a:rPr>
              <a:t>"Custo        : "</a:t>
            </a:r>
            <a:r>
              <a:rPr lang="pt-BR" b="1" i="1" dirty="0">
                <a:solidFill>
                  <a:srgbClr val="000000"/>
                </a:solidFill>
                <a:latin typeface="Consolas"/>
              </a:rPr>
              <a:t> +</a:t>
            </a:r>
            <a:r>
              <a:rPr lang="pt-BR" b="1" i="1" dirty="0" err="1">
                <a:solidFill>
                  <a:srgbClr val="6A3E3E"/>
                </a:solidFill>
                <a:latin typeface="Consolas"/>
              </a:rPr>
              <a:t>cafe</a:t>
            </a:r>
            <a:r>
              <a:rPr lang="pt-BR" b="1" i="1" dirty="0" err="1">
                <a:solidFill>
                  <a:srgbClr val="000000"/>
                </a:solidFill>
                <a:latin typeface="Consolas"/>
              </a:rPr>
              <a:t>.Preco</a:t>
            </a:r>
            <a:r>
              <a:rPr lang="pt-BR" b="1" i="1" dirty="0">
                <a:solidFill>
                  <a:srgbClr val="000000"/>
                </a:solidFill>
                <a:latin typeface="Consolas"/>
              </a:rPr>
              <a:t>());</a:t>
            </a:r>
          </a:p>
          <a:p>
            <a:endParaRPr lang="pt-BR" dirty="0">
              <a:latin typeface="Consolas"/>
            </a:endParaRPr>
          </a:p>
          <a:p>
            <a:r>
              <a:rPr lang="pt-BR" dirty="0" smtClean="0">
                <a:solidFill>
                  <a:srgbClr val="3F7F5F"/>
                </a:solidFill>
                <a:latin typeface="Consolas"/>
              </a:rPr>
              <a:t>      //</a:t>
            </a:r>
            <a:r>
              <a:rPr lang="pt-BR" u="sng" dirty="0">
                <a:solidFill>
                  <a:srgbClr val="3F7F5F"/>
                </a:solidFill>
                <a:latin typeface="Consolas"/>
              </a:rPr>
              <a:t>Adicionando leite</a:t>
            </a:r>
          </a:p>
          <a:p>
            <a:r>
              <a:rPr lang="pt-BR" dirty="0" smtClean="0">
                <a:solidFill>
                  <a:srgbClr val="6A3E3E"/>
                </a:solidFill>
                <a:latin typeface="Consolas"/>
              </a:rPr>
              <a:t>      </a:t>
            </a:r>
            <a:r>
              <a:rPr lang="pt-BR" dirty="0" err="1" smtClean="0">
                <a:solidFill>
                  <a:srgbClr val="6A3E3E"/>
                </a:solidFill>
                <a:latin typeface="Consolas"/>
              </a:rPr>
              <a:t>cafe</a:t>
            </a:r>
            <a:r>
              <a:rPr lang="pt-BR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pt-BR" dirty="0">
                <a:solidFill>
                  <a:srgbClr val="000000"/>
                </a:solidFill>
                <a:latin typeface="Consolas"/>
              </a:rPr>
              <a:t>= </a:t>
            </a:r>
            <a:r>
              <a:rPr lang="pt-BR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pt-BR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pt-BR" b="1" dirty="0" err="1">
                <a:solidFill>
                  <a:srgbClr val="000000"/>
                </a:solidFill>
                <a:latin typeface="Consolas"/>
              </a:rPr>
              <a:t>LeiteDecorador</a:t>
            </a:r>
            <a:r>
              <a:rPr lang="pt-BR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pt-BR" b="1" dirty="0" err="1">
                <a:solidFill>
                  <a:srgbClr val="6A3E3E"/>
                </a:solidFill>
                <a:latin typeface="Consolas"/>
              </a:rPr>
              <a:t>cafe</a:t>
            </a:r>
            <a:r>
              <a:rPr lang="pt-BR" b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pt-BR" dirty="0" smtClean="0">
                <a:solidFill>
                  <a:srgbClr val="000000"/>
                </a:solidFill>
                <a:latin typeface="Consolas"/>
              </a:rPr>
              <a:t>      </a:t>
            </a:r>
            <a:r>
              <a:rPr lang="pt-BR" dirty="0" err="1" smtClean="0">
                <a:solidFill>
                  <a:srgbClr val="000000"/>
                </a:solidFill>
                <a:latin typeface="Consolas"/>
              </a:rPr>
              <a:t>System.</a:t>
            </a:r>
            <a:r>
              <a:rPr lang="pt-BR" b="1" i="1" dirty="0" err="1" smtClean="0">
                <a:solidFill>
                  <a:srgbClr val="0000C0"/>
                </a:solidFill>
                <a:latin typeface="Consolas"/>
              </a:rPr>
              <a:t>out</a:t>
            </a:r>
            <a:r>
              <a:rPr lang="pt-BR" b="1" i="1" dirty="0" err="1" smtClean="0">
                <a:solidFill>
                  <a:srgbClr val="000000"/>
                </a:solidFill>
                <a:latin typeface="Consolas"/>
              </a:rPr>
              <a:t>.println</a:t>
            </a:r>
            <a:r>
              <a:rPr lang="pt-BR" b="1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pt-BR" b="1" i="1" dirty="0">
                <a:solidFill>
                  <a:srgbClr val="2A00FF"/>
                </a:solidFill>
                <a:latin typeface="Consolas"/>
              </a:rPr>
              <a:t>"Bebida pedida: "</a:t>
            </a:r>
            <a:r>
              <a:rPr lang="pt-BR" b="1" i="1" dirty="0">
                <a:solidFill>
                  <a:srgbClr val="000000"/>
                </a:solidFill>
                <a:latin typeface="Consolas"/>
              </a:rPr>
              <a:t> +</a:t>
            </a:r>
            <a:r>
              <a:rPr lang="pt-BR" b="1" i="1" dirty="0" err="1">
                <a:solidFill>
                  <a:srgbClr val="6A3E3E"/>
                </a:solidFill>
                <a:latin typeface="Consolas"/>
              </a:rPr>
              <a:t>cafe</a:t>
            </a:r>
            <a:r>
              <a:rPr lang="pt-BR" b="1" i="1" dirty="0" err="1">
                <a:solidFill>
                  <a:srgbClr val="000000"/>
                </a:solidFill>
                <a:latin typeface="Consolas"/>
              </a:rPr>
              <a:t>.Descricao</a:t>
            </a:r>
            <a:r>
              <a:rPr lang="pt-BR" b="1" i="1" dirty="0">
                <a:solidFill>
                  <a:srgbClr val="000000"/>
                </a:solidFill>
                <a:latin typeface="Consolas"/>
              </a:rPr>
              <a:t>());</a:t>
            </a:r>
          </a:p>
          <a:p>
            <a:r>
              <a:rPr lang="pt-BR" dirty="0" smtClean="0">
                <a:solidFill>
                  <a:srgbClr val="000000"/>
                </a:solidFill>
                <a:latin typeface="Consolas"/>
              </a:rPr>
              <a:t>      </a:t>
            </a:r>
            <a:r>
              <a:rPr lang="pt-BR" dirty="0" err="1" smtClean="0">
                <a:solidFill>
                  <a:srgbClr val="000000"/>
                </a:solidFill>
                <a:latin typeface="Consolas"/>
              </a:rPr>
              <a:t>System.</a:t>
            </a:r>
            <a:r>
              <a:rPr lang="pt-BR" b="1" i="1" dirty="0" err="1" smtClean="0">
                <a:solidFill>
                  <a:srgbClr val="0000C0"/>
                </a:solidFill>
                <a:latin typeface="Consolas"/>
              </a:rPr>
              <a:t>out</a:t>
            </a:r>
            <a:r>
              <a:rPr lang="pt-BR" b="1" i="1" dirty="0" err="1" smtClean="0">
                <a:solidFill>
                  <a:srgbClr val="000000"/>
                </a:solidFill>
                <a:latin typeface="Consolas"/>
              </a:rPr>
              <a:t>.println</a:t>
            </a:r>
            <a:r>
              <a:rPr lang="pt-BR" b="1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pt-BR" b="1" i="1" dirty="0">
                <a:solidFill>
                  <a:srgbClr val="2A00FF"/>
                </a:solidFill>
                <a:latin typeface="Consolas"/>
              </a:rPr>
              <a:t>"Custo        : "</a:t>
            </a:r>
            <a:r>
              <a:rPr lang="pt-BR" b="1" i="1" dirty="0">
                <a:solidFill>
                  <a:srgbClr val="000000"/>
                </a:solidFill>
                <a:latin typeface="Consolas"/>
              </a:rPr>
              <a:t> +</a:t>
            </a:r>
            <a:r>
              <a:rPr lang="pt-BR" b="1" i="1" dirty="0" err="1">
                <a:solidFill>
                  <a:srgbClr val="6A3E3E"/>
                </a:solidFill>
                <a:latin typeface="Consolas"/>
              </a:rPr>
              <a:t>cafe</a:t>
            </a:r>
            <a:r>
              <a:rPr lang="pt-BR" b="1" i="1" dirty="0" err="1">
                <a:solidFill>
                  <a:srgbClr val="000000"/>
                </a:solidFill>
                <a:latin typeface="Consolas"/>
              </a:rPr>
              <a:t>.Preco</a:t>
            </a:r>
            <a:r>
              <a:rPr lang="pt-BR" b="1" i="1" dirty="0">
                <a:solidFill>
                  <a:srgbClr val="000000"/>
                </a:solidFill>
                <a:latin typeface="Consolas"/>
              </a:rPr>
              <a:t>());</a:t>
            </a:r>
          </a:p>
          <a:p>
            <a:endParaRPr lang="pt-BR" dirty="0">
              <a:latin typeface="Consolas"/>
            </a:endParaRPr>
          </a:p>
          <a:p>
            <a:r>
              <a:rPr lang="pt-BR" dirty="0" smtClean="0">
                <a:solidFill>
                  <a:srgbClr val="3F7F5F"/>
                </a:solidFill>
                <a:latin typeface="Consolas"/>
              </a:rPr>
              <a:t>      //</a:t>
            </a:r>
            <a:r>
              <a:rPr lang="pt-BR" u="sng" dirty="0">
                <a:solidFill>
                  <a:srgbClr val="3F7F5F"/>
                </a:solidFill>
                <a:latin typeface="Consolas"/>
              </a:rPr>
              <a:t>Adicionando </a:t>
            </a:r>
            <a:r>
              <a:rPr lang="pt-BR" u="sng" dirty="0" err="1">
                <a:solidFill>
                  <a:srgbClr val="3F7F5F"/>
                </a:solidFill>
                <a:latin typeface="Consolas"/>
              </a:rPr>
              <a:t>acucar</a:t>
            </a:r>
            <a:endParaRPr lang="pt-BR" u="sng" dirty="0">
              <a:solidFill>
                <a:srgbClr val="3F7F5F"/>
              </a:solidFill>
              <a:latin typeface="Consolas"/>
            </a:endParaRPr>
          </a:p>
          <a:p>
            <a:r>
              <a:rPr lang="pt-BR" dirty="0" smtClean="0">
                <a:solidFill>
                  <a:srgbClr val="6A3E3E"/>
                </a:solidFill>
                <a:latin typeface="Consolas"/>
              </a:rPr>
              <a:t>      </a:t>
            </a:r>
            <a:r>
              <a:rPr lang="pt-BR" dirty="0" err="1" smtClean="0">
                <a:solidFill>
                  <a:srgbClr val="6A3E3E"/>
                </a:solidFill>
                <a:latin typeface="Consolas"/>
              </a:rPr>
              <a:t>cafe</a:t>
            </a:r>
            <a:r>
              <a:rPr lang="pt-BR" dirty="0" smtClean="0">
                <a:solidFill>
                  <a:srgbClr val="000000"/>
                </a:solidFill>
                <a:latin typeface="Consolas"/>
              </a:rPr>
              <a:t> </a:t>
            </a:r>
            <a:r>
              <a:rPr lang="pt-BR" dirty="0">
                <a:solidFill>
                  <a:srgbClr val="000000"/>
                </a:solidFill>
                <a:latin typeface="Consolas"/>
              </a:rPr>
              <a:t>= </a:t>
            </a:r>
            <a:r>
              <a:rPr lang="pt-BR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pt-BR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pt-BR" b="1" dirty="0" err="1">
                <a:solidFill>
                  <a:srgbClr val="000000"/>
                </a:solidFill>
                <a:latin typeface="Consolas"/>
              </a:rPr>
              <a:t>AcucarDecorator</a:t>
            </a:r>
            <a:r>
              <a:rPr lang="pt-BR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pt-BR" b="1" dirty="0" err="1">
                <a:solidFill>
                  <a:srgbClr val="6A3E3E"/>
                </a:solidFill>
                <a:latin typeface="Consolas"/>
              </a:rPr>
              <a:t>cafe</a:t>
            </a:r>
            <a:r>
              <a:rPr lang="pt-BR" b="1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r>
              <a:rPr lang="pt-BR" dirty="0" smtClean="0">
                <a:solidFill>
                  <a:srgbClr val="000000"/>
                </a:solidFill>
                <a:latin typeface="Consolas"/>
              </a:rPr>
              <a:t>      </a:t>
            </a:r>
            <a:r>
              <a:rPr lang="pt-BR" dirty="0" err="1" smtClean="0">
                <a:solidFill>
                  <a:srgbClr val="000000"/>
                </a:solidFill>
                <a:latin typeface="Consolas"/>
              </a:rPr>
              <a:t>System.</a:t>
            </a:r>
            <a:r>
              <a:rPr lang="pt-BR" b="1" i="1" dirty="0" err="1" smtClean="0">
                <a:solidFill>
                  <a:srgbClr val="0000C0"/>
                </a:solidFill>
                <a:latin typeface="Consolas"/>
              </a:rPr>
              <a:t>out</a:t>
            </a:r>
            <a:r>
              <a:rPr lang="pt-BR" b="1" i="1" dirty="0" err="1" smtClean="0">
                <a:solidFill>
                  <a:srgbClr val="000000"/>
                </a:solidFill>
                <a:latin typeface="Consolas"/>
              </a:rPr>
              <a:t>.println</a:t>
            </a:r>
            <a:r>
              <a:rPr lang="pt-BR" b="1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pt-BR" b="1" i="1" dirty="0">
                <a:solidFill>
                  <a:srgbClr val="2A00FF"/>
                </a:solidFill>
                <a:latin typeface="Consolas"/>
              </a:rPr>
              <a:t>"Bebida pedida: "</a:t>
            </a:r>
            <a:r>
              <a:rPr lang="pt-BR" b="1" i="1" dirty="0">
                <a:solidFill>
                  <a:srgbClr val="000000"/>
                </a:solidFill>
                <a:latin typeface="Consolas"/>
              </a:rPr>
              <a:t> +</a:t>
            </a:r>
            <a:r>
              <a:rPr lang="pt-BR" b="1" i="1" dirty="0" err="1">
                <a:solidFill>
                  <a:srgbClr val="6A3E3E"/>
                </a:solidFill>
                <a:latin typeface="Consolas"/>
              </a:rPr>
              <a:t>cafe</a:t>
            </a:r>
            <a:r>
              <a:rPr lang="pt-BR" b="1" i="1" dirty="0" err="1">
                <a:solidFill>
                  <a:srgbClr val="000000"/>
                </a:solidFill>
                <a:latin typeface="Consolas"/>
              </a:rPr>
              <a:t>.Descricao</a:t>
            </a:r>
            <a:r>
              <a:rPr lang="pt-BR" b="1" i="1" dirty="0">
                <a:solidFill>
                  <a:srgbClr val="000000"/>
                </a:solidFill>
                <a:latin typeface="Consolas"/>
              </a:rPr>
              <a:t>());</a:t>
            </a:r>
          </a:p>
          <a:p>
            <a:r>
              <a:rPr lang="pt-BR" dirty="0" smtClean="0">
                <a:solidFill>
                  <a:srgbClr val="000000"/>
                </a:solidFill>
                <a:latin typeface="Consolas"/>
              </a:rPr>
              <a:t>      </a:t>
            </a:r>
            <a:r>
              <a:rPr lang="pt-BR" dirty="0" err="1" smtClean="0">
                <a:solidFill>
                  <a:srgbClr val="000000"/>
                </a:solidFill>
                <a:latin typeface="Consolas"/>
              </a:rPr>
              <a:t>System.</a:t>
            </a:r>
            <a:r>
              <a:rPr lang="pt-BR" b="1" i="1" dirty="0" err="1" smtClean="0">
                <a:solidFill>
                  <a:srgbClr val="0000C0"/>
                </a:solidFill>
                <a:latin typeface="Consolas"/>
              </a:rPr>
              <a:t>out</a:t>
            </a:r>
            <a:r>
              <a:rPr lang="pt-BR" b="1" i="1" dirty="0" err="1" smtClean="0">
                <a:solidFill>
                  <a:srgbClr val="000000"/>
                </a:solidFill>
                <a:latin typeface="Consolas"/>
              </a:rPr>
              <a:t>.println</a:t>
            </a:r>
            <a:r>
              <a:rPr lang="pt-BR" b="1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pt-BR" b="1" i="1" dirty="0">
                <a:solidFill>
                  <a:srgbClr val="2A00FF"/>
                </a:solidFill>
                <a:latin typeface="Consolas"/>
              </a:rPr>
              <a:t>"Custo        : "</a:t>
            </a:r>
            <a:r>
              <a:rPr lang="pt-BR" b="1" i="1" dirty="0">
                <a:solidFill>
                  <a:srgbClr val="000000"/>
                </a:solidFill>
                <a:latin typeface="Consolas"/>
              </a:rPr>
              <a:t> +</a:t>
            </a:r>
            <a:r>
              <a:rPr lang="pt-BR" b="1" i="1" dirty="0" err="1">
                <a:solidFill>
                  <a:srgbClr val="6A3E3E"/>
                </a:solidFill>
                <a:latin typeface="Consolas"/>
              </a:rPr>
              <a:t>cafe</a:t>
            </a:r>
            <a:r>
              <a:rPr lang="pt-BR" b="1" i="1" dirty="0" err="1">
                <a:solidFill>
                  <a:srgbClr val="000000"/>
                </a:solidFill>
                <a:latin typeface="Consolas"/>
              </a:rPr>
              <a:t>.Preco</a:t>
            </a:r>
            <a:r>
              <a:rPr lang="pt-BR" b="1" i="1" dirty="0">
                <a:solidFill>
                  <a:srgbClr val="000000"/>
                </a:solidFill>
                <a:latin typeface="Consolas"/>
              </a:rPr>
              <a:t>());</a:t>
            </a:r>
          </a:p>
          <a:p>
            <a:r>
              <a:rPr lang="pt-BR" smtClean="0">
                <a:solidFill>
                  <a:srgbClr val="000000"/>
                </a:solidFill>
                <a:latin typeface="Consolas"/>
              </a:rPr>
              <a:t>   }</a:t>
            </a:r>
            <a:endParaRPr lang="pt-BR" dirty="0">
              <a:solidFill>
                <a:srgbClr val="000000"/>
              </a:solidFill>
              <a:latin typeface="Consolas"/>
            </a:endParaRPr>
          </a:p>
          <a:p>
            <a:r>
              <a:rPr lang="pt-BR" dirty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11132035" y="147539"/>
            <a:ext cx="458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 smtClean="0"/>
              <a:t>1/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38456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1697</TotalTime>
  <Words>1762</Words>
  <Application>Microsoft Office PowerPoint</Application>
  <PresentationFormat>Personalizar</PresentationFormat>
  <Paragraphs>263</Paragraphs>
  <Slides>25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26" baseType="lpstr">
      <vt:lpstr>Tema do Office</vt:lpstr>
      <vt:lpstr>Padrões de Projetos</vt:lpstr>
      <vt:lpstr>Herança</vt:lpstr>
      <vt:lpstr>Herança - implementação</vt:lpstr>
      <vt:lpstr>Herança - implementação</vt:lpstr>
      <vt:lpstr>Polimorfismo</vt:lpstr>
      <vt:lpstr>Polimorfismo  - implementação</vt:lpstr>
      <vt:lpstr>Polimorfismo  - implementação</vt:lpstr>
      <vt:lpstr>Atividade</vt:lpstr>
      <vt:lpstr>Classes abstratas</vt:lpstr>
      <vt:lpstr>Métodos abstratos</vt:lpstr>
      <vt:lpstr>Atividade</vt:lpstr>
      <vt:lpstr>Interfaces</vt:lpstr>
      <vt:lpstr>Interfaces</vt:lpstr>
      <vt:lpstr>Factory method</vt:lpstr>
      <vt:lpstr>Factory method</vt:lpstr>
      <vt:lpstr>Factory method</vt:lpstr>
      <vt:lpstr>Abstract Factory</vt:lpstr>
      <vt:lpstr>Observer</vt:lpstr>
      <vt:lpstr>Observer</vt:lpstr>
      <vt:lpstr>Decorator</vt:lpstr>
      <vt:lpstr>Decorator</vt:lpstr>
      <vt:lpstr>Decorator - exemplo</vt:lpstr>
      <vt:lpstr>Decorator - exemplo</vt:lpstr>
      <vt:lpstr>Decorator - exemplo</vt:lpstr>
      <vt:lpstr>Decorator - exemplo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Padrões de Projetos</dc:title>
  <dc:creator>indt_hzjxjb3@outlook.com</dc:creator>
  <cp:lastModifiedBy>Convexa</cp:lastModifiedBy>
  <cp:revision>40</cp:revision>
  <dcterms:created xsi:type="dcterms:W3CDTF">2022-08-01T15:31:16Z</dcterms:created>
  <dcterms:modified xsi:type="dcterms:W3CDTF">2026-08-04T19:34:22Z</dcterms:modified>
</cp:coreProperties>
</file>