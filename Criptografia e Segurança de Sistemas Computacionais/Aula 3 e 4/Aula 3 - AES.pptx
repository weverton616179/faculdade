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5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AES - Advanced Encryption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Algoritmo</a:t>
            </a:r>
            <a:r>
              <a:rPr dirty="0"/>
              <a:t> de </a:t>
            </a:r>
            <a:r>
              <a:rPr dirty="0" err="1"/>
              <a:t>criptografia</a:t>
            </a:r>
            <a:r>
              <a:rPr dirty="0"/>
              <a:t> </a:t>
            </a:r>
            <a:r>
              <a:rPr dirty="0" err="1"/>
              <a:t>simétrica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</a:t>
            </a:r>
            <a:r>
              <a:rPr dirty="0" err="1"/>
              <a:t>mundial</a:t>
            </a:r>
            <a:r>
              <a:rPr dirty="0"/>
              <a:t>.</a:t>
            </a:r>
          </a:p>
          <a:p>
            <a:r>
              <a:rPr dirty="0" err="1"/>
              <a:t>Utilizado</a:t>
            </a:r>
            <a:r>
              <a:rPr dirty="0"/>
              <a:t> para </a:t>
            </a:r>
            <a:r>
              <a:rPr dirty="0" err="1"/>
              <a:t>proteger</a:t>
            </a:r>
            <a:r>
              <a:rPr dirty="0"/>
              <a:t> dados </a:t>
            </a:r>
            <a:r>
              <a:rPr dirty="0" err="1"/>
              <a:t>sensíveis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diversos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Por que o AES é o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Segurança</a:t>
            </a:r>
            <a:r>
              <a:rPr dirty="0"/>
              <a:t> robusta</a:t>
            </a:r>
          </a:p>
          <a:p>
            <a:r>
              <a:rPr dirty="0"/>
              <a:t>Alta </a:t>
            </a:r>
            <a:r>
              <a:rPr dirty="0" err="1"/>
              <a:t>eficiência</a:t>
            </a:r>
            <a:r>
              <a:rPr dirty="0"/>
              <a:t> e </a:t>
            </a:r>
            <a:r>
              <a:rPr dirty="0" err="1"/>
              <a:t>velocidade</a:t>
            </a:r>
            <a:endParaRPr dirty="0"/>
          </a:p>
          <a:p>
            <a:r>
              <a:rPr dirty="0" err="1"/>
              <a:t>Ampla</a:t>
            </a:r>
            <a:r>
              <a:rPr dirty="0"/>
              <a:t> </a:t>
            </a:r>
            <a:r>
              <a:rPr dirty="0" err="1"/>
              <a:t>adoção</a:t>
            </a:r>
            <a:r>
              <a:rPr dirty="0"/>
              <a:t> (HTTPS, Wi-Fi, VPNs,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Como </a:t>
            </a:r>
            <a:r>
              <a:rPr dirty="0" err="1"/>
              <a:t>funciona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</a:t>
            </a:r>
            <a:r>
              <a:rPr dirty="0" err="1"/>
              <a:t>Derivação</a:t>
            </a:r>
            <a:r>
              <a:rPr dirty="0"/>
              <a:t> de </a:t>
            </a:r>
            <a:r>
              <a:rPr dirty="0" err="1"/>
              <a:t>chave</a:t>
            </a:r>
            <a:r>
              <a:rPr dirty="0"/>
              <a:t> (PBKDF2 / Argon2)</a:t>
            </a:r>
          </a:p>
          <a:p>
            <a:r>
              <a:rPr dirty="0"/>
              <a:t>2. </a:t>
            </a:r>
            <a:r>
              <a:rPr dirty="0" err="1"/>
              <a:t>Criptografia</a:t>
            </a:r>
            <a:r>
              <a:rPr dirty="0"/>
              <a:t> com AES</a:t>
            </a:r>
          </a:p>
          <a:p>
            <a:r>
              <a:rPr dirty="0"/>
              <a:t>3. </a:t>
            </a:r>
            <a:r>
              <a:rPr dirty="0" err="1"/>
              <a:t>Geração</a:t>
            </a:r>
            <a:r>
              <a:rPr dirty="0"/>
              <a:t> do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cifrado</a:t>
            </a:r>
            <a:endParaRPr lang="en-US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AES 256</a:t>
            </a:r>
          </a:p>
          <a:p>
            <a:r>
              <a:rPr lang="pt-BR" dirty="0"/>
              <a:t>Tipo: Simétrica</a:t>
            </a:r>
          </a:p>
          <a:p>
            <a:r>
              <a:rPr lang="pt-BR" dirty="0"/>
              <a:t>Bloco: 128 bits</a:t>
            </a:r>
          </a:p>
          <a:p>
            <a:r>
              <a:rPr lang="pt-BR" dirty="0"/>
              <a:t>Chaves: 128 / 192 / 256 bits</a:t>
            </a:r>
          </a:p>
          <a:p>
            <a:r>
              <a:rPr lang="pt-BR" dirty="0"/>
              <a:t>Alta performance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PBKDF2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A </a:t>
            </a:r>
            <a:r>
              <a:rPr lang="pt-BR" b="1" dirty="0"/>
              <a:t>PBKDF2 (</a:t>
            </a:r>
            <a:r>
              <a:rPr lang="pt-BR" b="1" dirty="0" err="1"/>
              <a:t>Password-Based</a:t>
            </a:r>
            <a:r>
              <a:rPr lang="pt-BR" b="1" dirty="0"/>
              <a:t> Key </a:t>
            </a:r>
            <a:r>
              <a:rPr lang="pt-BR" b="1" dirty="0" err="1"/>
              <a:t>Derivation</a:t>
            </a:r>
            <a:r>
              <a:rPr lang="pt-BR" b="1" dirty="0"/>
              <a:t> </a:t>
            </a:r>
            <a:r>
              <a:rPr lang="pt-BR" b="1" dirty="0" err="1"/>
              <a:t>Function</a:t>
            </a:r>
            <a:r>
              <a:rPr lang="pt-BR" b="1" dirty="0"/>
              <a:t> 2)</a:t>
            </a:r>
            <a:r>
              <a:rPr lang="pt-BR" dirty="0"/>
              <a:t> é uma função de derivação de chave projetada para transformar uma senha (geralmente fraca) em uma chave criptográfica forte, adequada para algoritmos como AES.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“</a:t>
            </a:r>
            <a:r>
              <a:rPr lang="pt-BR" b="1" dirty="0"/>
              <a:t>Tornar o processo de geração da chave deliberadamente lento e resistente a ataques de força bruta.”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D8C55-08B3-71E7-8A83-4E963168D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9424"/>
          </a:xfrm>
        </p:spPr>
        <p:txBody>
          <a:bodyPr>
            <a:normAutofit fontScale="90000"/>
          </a:bodyPr>
          <a:lstStyle/>
          <a:p>
            <a:r>
              <a:rPr lang="en-US" dirty="0"/>
              <a:t>PBKDF2- </a:t>
            </a:r>
            <a:r>
              <a:rPr lang="en-US" dirty="0" err="1"/>
              <a:t>Funcionamento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8D8121-210C-1BD9-9F31-BF209982FE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65610"/>
                <a:ext cx="8229600" cy="5417752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pt-BR" dirty="0"/>
                  <a:t>O PBKDF2 recebe:</a:t>
                </a:r>
              </a:p>
              <a:p>
                <a:r>
                  <a:rPr lang="pt-BR" b="1" dirty="0"/>
                  <a:t>Senha (P)</a:t>
                </a:r>
                <a:r>
                  <a:rPr lang="pt-BR" dirty="0"/>
                  <a:t> → texto original do usuário</a:t>
                </a:r>
              </a:p>
              <a:p>
                <a:r>
                  <a:rPr lang="pt-BR" b="1" dirty="0"/>
                  <a:t>Salt (S)</a:t>
                </a:r>
                <a:r>
                  <a:rPr lang="pt-BR" dirty="0"/>
                  <a:t> → valor aleatório (evita ataques com tabelas </a:t>
                </a:r>
                <a:r>
                  <a:rPr lang="pt-BR" dirty="0" err="1"/>
                  <a:t>pré</a:t>
                </a:r>
                <a:r>
                  <a:rPr lang="pt-BR" dirty="0"/>
                  <a:t>-computadas)</a:t>
                </a:r>
              </a:p>
              <a:p>
                <a:r>
                  <a:rPr lang="pt-BR" b="1" dirty="0"/>
                  <a:t>Iterações (c)</a:t>
                </a:r>
                <a:r>
                  <a:rPr lang="pt-BR" dirty="0"/>
                  <a:t> → número de repetições (</a:t>
                </a:r>
                <a:r>
                  <a:rPr lang="pt-BR" dirty="0" err="1"/>
                  <a:t>ex</a:t>
                </a:r>
                <a:r>
                  <a:rPr lang="pt-BR" dirty="0"/>
                  <a:t>: 100.000+)</a:t>
                </a:r>
              </a:p>
              <a:p>
                <a:r>
                  <a:rPr lang="pt-BR" b="1" dirty="0"/>
                  <a:t>Função </a:t>
                </a:r>
                <a:r>
                  <a:rPr lang="pt-BR" b="1" dirty="0" err="1"/>
                  <a:t>hash</a:t>
                </a:r>
                <a:r>
                  <a:rPr lang="pt-BR" b="1" dirty="0"/>
                  <a:t> (H)</a:t>
                </a:r>
                <a:r>
                  <a:rPr lang="pt-BR" dirty="0"/>
                  <a:t> → geralmente SHA-256</a:t>
                </a:r>
              </a:p>
              <a:p>
                <a:r>
                  <a:rPr lang="pt-BR" b="1" dirty="0"/>
                  <a:t>Tamanho da chave desejada (</a:t>
                </a:r>
                <a:r>
                  <a:rPr lang="pt-BR" b="1" dirty="0" err="1"/>
                  <a:t>dkLen</a:t>
                </a:r>
                <a:r>
                  <a:rPr lang="pt-BR" b="1" dirty="0"/>
                  <a:t>)</a:t>
                </a:r>
                <a:r>
                  <a:rPr lang="pt-BR" dirty="0"/>
                  <a:t> → </a:t>
                </a:r>
                <a:r>
                  <a:rPr lang="pt-BR" dirty="0" err="1"/>
                  <a:t>ex</a:t>
                </a:r>
                <a:r>
                  <a:rPr lang="pt-BR" dirty="0"/>
                  <a:t>: 256 bits</a:t>
                </a:r>
              </a:p>
              <a:p>
                <a:pPr marL="0" indent="0">
                  <a:buNone/>
                </a:pPr>
                <a:r>
                  <a:rPr lang="pt-BR" dirty="0"/>
                  <a:t>A derivação da chave ocorre em blocos: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/>
                        <m:t>𝐷𝐾</m:t>
                      </m:r>
                      <m:r>
                        <a:rPr lang="pt-BR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𝑇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r>
                        <a:rPr lang="ar-AE"/>
                        <m:t>∣∣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𝑇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r>
                        <a:rPr lang="ar-AE"/>
                        <m:t>∣∣...∣∣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𝑇</m:t>
                          </m:r>
                        </m:e>
                        <m:sub>
                          <m:r>
                            <a:rPr lang="ar-AE" i="1"/>
                            <m:t>𝑛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Cada bloco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𝑇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é calculado assim: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𝑇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</m:sSub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r>
                        <a:rPr lang="ar-AE"/>
                        <m:t>⊕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r>
                        <a:rPr lang="ar-AE"/>
                        <m:t>⊕...⊕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pt-BR" dirty="0"/>
                  <a:t>Onde: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𝐻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𝑃</m:t>
                          </m:r>
                        </m:e>
                        <m:e>
                          <m:r>
                            <a:rPr lang="ar-AE" i="1"/>
                            <m:t>𝑆</m:t>
                          </m:r>
                          <m:r>
                            <a:rPr lang="ar-AE"/>
                            <m:t>∣∣</m:t>
                          </m:r>
                          <m:r>
                            <a:rPr lang="ar-AE" i="1"/>
                            <m:t>𝑖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𝐻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𝑃</m:t>
                          </m:r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𝑈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/>
                            <m:t>3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𝐻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𝑃</m:t>
                          </m:r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𝑈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𝑈</m:t>
                          </m:r>
                        </m:e>
                        <m:sub>
                          <m:r>
                            <a:rPr lang="ar-AE" i="1"/>
                            <m:t>𝑐</m:t>
                          </m:r>
                        </m:sub>
                      </m:sSub>
                      <m:r>
                        <a:rPr lang="ar-AE"/>
                        <m:t>=</m:t>
                      </m:r>
                      <m:r>
                        <a:rPr lang="ar-AE" i="1"/>
                        <m:t>𝐻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𝑃</m:t>
                          </m:r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𝑈</m:t>
                              </m:r>
                            </m:e>
                            <m:sub>
                              <m:r>
                                <a:rPr lang="ar-AE" i="1"/>
                                <m:t>𝑐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pt-BR" dirty="0"/>
                  <a:t>Ou seja:</a:t>
                </a:r>
                <a:br>
                  <a:rPr lang="pt-BR" dirty="0"/>
                </a:br>
                <a:r>
                  <a:rPr lang="pt-BR" dirty="0"/>
                  <a:t>a saída anterior vira entrada da próxima iteração</a:t>
                </a:r>
                <a:endParaRPr lang="ar-AE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8D8121-210C-1BD9-9F31-BF209982FE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65610"/>
                <a:ext cx="8229600" cy="5417752"/>
              </a:xfrm>
              <a:blipFill>
                <a:blip r:embed="rId2"/>
                <a:stretch>
                  <a:fillRect l="-593" t="-14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24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3FB8-CEE8-203B-0B9D-422440B5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F6BCD-4F85-603D-92C0-23EB10FD1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9424"/>
          </a:xfrm>
        </p:spPr>
        <p:txBody>
          <a:bodyPr>
            <a:normAutofit fontScale="90000"/>
          </a:bodyPr>
          <a:lstStyle/>
          <a:p>
            <a:r>
              <a:rPr lang="en-US" dirty="0"/>
              <a:t>PBKDF2- </a:t>
            </a:r>
            <a:r>
              <a:rPr lang="en-US" dirty="0" err="1"/>
              <a:t>Funcionamento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31604F-F313-FFF8-8BB1-9CB999BA2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610"/>
            <a:ext cx="8229600" cy="541775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pt-BR" sz="4900" b="1" dirty="0"/>
              <a:t>Intuição prática</a:t>
            </a:r>
          </a:p>
          <a:p>
            <a:r>
              <a:rPr lang="pt-BR" sz="4900" dirty="0"/>
              <a:t>O PBKDF2 faz:</a:t>
            </a:r>
          </a:p>
          <a:p>
            <a:r>
              <a:rPr lang="pt-BR" sz="4900" dirty="0"/>
              <a:t>Mistura senha + </a:t>
            </a:r>
            <a:r>
              <a:rPr lang="pt-BR" sz="4900" dirty="0" err="1"/>
              <a:t>salt</a:t>
            </a:r>
            <a:endParaRPr lang="pt-BR" sz="4900" dirty="0"/>
          </a:p>
          <a:p>
            <a:r>
              <a:rPr lang="pt-BR" sz="4900" dirty="0"/>
              <a:t>Aplica </a:t>
            </a:r>
            <a:r>
              <a:rPr lang="pt-BR" sz="4900" dirty="0" err="1"/>
              <a:t>hash</a:t>
            </a:r>
            <a:endParaRPr lang="pt-BR" sz="4900" dirty="0"/>
          </a:p>
          <a:p>
            <a:r>
              <a:rPr lang="pt-BR" sz="4900" dirty="0"/>
              <a:t>Repete isso milhares de vezes</a:t>
            </a:r>
          </a:p>
          <a:p>
            <a:r>
              <a:rPr lang="pt-BR" sz="4900" dirty="0"/>
              <a:t>Combina os resultados com XOR</a:t>
            </a:r>
          </a:p>
          <a:p>
            <a:r>
              <a:rPr lang="pt-BR" sz="4900" dirty="0"/>
              <a:t>Resultado: uma chave </a:t>
            </a:r>
            <a:r>
              <a:rPr lang="pt-BR" sz="4900" b="1" dirty="0"/>
              <a:t>muito difícil de adivinhar</a:t>
            </a:r>
            <a:r>
              <a:rPr lang="pt-BR" sz="4900" dirty="0"/>
              <a:t>, mesmo que a senha seja simples.</a:t>
            </a:r>
          </a:p>
          <a:p>
            <a:pPr marL="0" indent="0">
              <a:buNone/>
            </a:pPr>
            <a:endParaRPr lang="pt-BR" sz="4900" b="1" dirty="0"/>
          </a:p>
          <a:p>
            <a:pPr marL="0" indent="0">
              <a:buNone/>
            </a:pPr>
            <a:r>
              <a:rPr lang="pt-BR" sz="4900" b="1" dirty="0"/>
              <a:t>Por que múltiplas iterações?</a:t>
            </a:r>
          </a:p>
          <a:p>
            <a:r>
              <a:rPr lang="pt-BR" sz="4900" dirty="0"/>
              <a:t>Sem iterações:</a:t>
            </a:r>
          </a:p>
          <a:p>
            <a:r>
              <a:rPr lang="pt-BR" sz="4900" dirty="0"/>
              <a:t>atacante testa milhões de senhas por segundo</a:t>
            </a:r>
          </a:p>
          <a:p>
            <a:r>
              <a:rPr lang="pt-BR" sz="4900" dirty="0"/>
              <a:t>Com PBKDF2 (</a:t>
            </a:r>
            <a:r>
              <a:rPr lang="pt-BR" sz="4900" dirty="0" err="1"/>
              <a:t>ex</a:t>
            </a:r>
            <a:r>
              <a:rPr lang="pt-BR" sz="4900" dirty="0"/>
              <a:t>: 100k iterações):</a:t>
            </a:r>
          </a:p>
          <a:p>
            <a:r>
              <a:rPr lang="pt-BR" sz="4900" dirty="0"/>
              <a:t>cada tentativa fica </a:t>
            </a:r>
            <a:r>
              <a:rPr lang="pt-BR" sz="4900" b="1" dirty="0"/>
              <a:t>100.000x mais lenta</a:t>
            </a:r>
          </a:p>
          <a:p>
            <a:pPr marL="0" indent="0">
              <a:buNone/>
            </a:pPr>
            <a:endParaRPr lang="pt-BR" sz="4900" b="1" dirty="0"/>
          </a:p>
          <a:p>
            <a:pPr marL="0" indent="0">
              <a:buNone/>
            </a:pPr>
            <a:r>
              <a:rPr lang="pt-BR" sz="4900" b="1" dirty="0"/>
              <a:t>Papel do SALT</a:t>
            </a:r>
          </a:p>
          <a:p>
            <a:r>
              <a:rPr lang="pt-BR" sz="4900" dirty="0"/>
              <a:t>O </a:t>
            </a:r>
            <a:r>
              <a:rPr lang="pt-BR" sz="4900" b="1" dirty="0" err="1"/>
              <a:t>salt</a:t>
            </a:r>
            <a:r>
              <a:rPr lang="pt-BR" sz="4900" dirty="0"/>
              <a:t> garante que:</a:t>
            </a:r>
          </a:p>
          <a:p>
            <a:r>
              <a:rPr lang="pt-BR" sz="4900" dirty="0"/>
              <a:t>Senhas iguais → chaves diferentes</a:t>
            </a:r>
          </a:p>
          <a:p>
            <a:r>
              <a:rPr lang="pt-BR" sz="4900" dirty="0"/>
              <a:t>Impede </a:t>
            </a:r>
            <a:r>
              <a:rPr lang="pt-BR" sz="4900" b="1" dirty="0" err="1"/>
              <a:t>rainbow</a:t>
            </a:r>
            <a:r>
              <a:rPr lang="pt-BR" sz="4900" b="1" dirty="0"/>
              <a:t> </a:t>
            </a:r>
            <a:r>
              <a:rPr lang="pt-BR" sz="4900" b="1" dirty="0" err="1"/>
              <a:t>tables</a:t>
            </a:r>
            <a:endParaRPr lang="pt-BR" sz="4900" dirty="0"/>
          </a:p>
          <a:p>
            <a:r>
              <a:rPr lang="pt-BR" sz="4900" dirty="0"/>
              <a:t>Deve ser:</a:t>
            </a:r>
          </a:p>
          <a:p>
            <a:pPr lvl="1"/>
            <a:r>
              <a:rPr lang="pt-BR" sz="4300" dirty="0"/>
              <a:t>Aleatório</a:t>
            </a:r>
          </a:p>
          <a:p>
            <a:pPr lvl="1"/>
            <a:r>
              <a:rPr lang="pt-BR" sz="4300" dirty="0"/>
              <a:t>Único por usuário</a:t>
            </a:r>
          </a:p>
          <a:p>
            <a:pPr lvl="1"/>
            <a:r>
              <a:rPr lang="pt-BR" sz="4300" dirty="0"/>
              <a:t>Armazenado junto com o </a:t>
            </a:r>
            <a:r>
              <a:rPr lang="pt-BR" sz="4300" dirty="0" err="1"/>
              <a:t>hash</a:t>
            </a:r>
            <a:endParaRPr lang="pt-BR" sz="4300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65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158B-26FC-583D-96B5-449F41D4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EEF33-A73D-9771-0F6B-13FD64B4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9424"/>
          </a:xfrm>
        </p:spPr>
        <p:txBody>
          <a:bodyPr>
            <a:normAutofit fontScale="90000"/>
          </a:bodyPr>
          <a:lstStyle/>
          <a:p>
            <a:r>
              <a:rPr lang="en-US" dirty="0"/>
              <a:t>Atividade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1ACB6C-BB9A-6F8C-7DDB-27AC9343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610"/>
            <a:ext cx="8229600" cy="5417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1. Desenvolva um método que implemente o AES</a:t>
            </a:r>
          </a:p>
          <a:p>
            <a:pPr marL="0" indent="0">
              <a:buNone/>
            </a:pPr>
            <a:endParaRPr lang="pt-BR" sz="2400"/>
          </a:p>
          <a:p>
            <a:pPr marL="0" indent="0">
              <a:buNone/>
            </a:pPr>
            <a:r>
              <a:rPr lang="pt-BR" sz="2400"/>
              <a:t>1.1 </a:t>
            </a:r>
            <a:r>
              <a:rPr lang="pt-BR" sz="2400" dirty="0"/>
              <a:t>O método deve receber um texto e uma senha e retornar o conteúdo criptografado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1.2 Também deve ser possível decodificar o texto, desde que seja informada uma senha correta</a:t>
            </a:r>
            <a:endParaRPr lang="pt-BR" sz="1800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370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409</Words>
  <Application>Microsoft Office PowerPoint</Application>
  <PresentationFormat>Apresentação na tela (4:3)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AES - Advanced Encryption Standard</vt:lpstr>
      <vt:lpstr>Por que o AES é o mais usado?</vt:lpstr>
      <vt:lpstr>Como funciona?</vt:lpstr>
      <vt:lpstr>PBKDF2</vt:lpstr>
      <vt:lpstr>PBKDF2- Funcionamento</vt:lpstr>
      <vt:lpstr>PBKDF2- Funcionamento</vt:lpstr>
      <vt:lpstr>Atividade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Indt Indt</cp:lastModifiedBy>
  <cp:revision>4</cp:revision>
  <dcterms:created xsi:type="dcterms:W3CDTF">2013-01-27T09:14:16Z</dcterms:created>
  <dcterms:modified xsi:type="dcterms:W3CDTF">2026-03-18T20:24:50Z</dcterms:modified>
  <cp:category/>
</cp:coreProperties>
</file>